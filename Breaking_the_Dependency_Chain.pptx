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1"/>
  </p:sldMasterIdLst>
  <p:notesMasterIdLst>
    <p:notesMasterId r:id="rId11"/>
  </p:notesMasterIdLst>
  <p:sldIdLst>
    <p:sldId id="256" r:id="rId2"/>
    <p:sldId id="257" r:id="rId3"/>
    <p:sldId id="258" r:id="rId4"/>
    <p:sldId id="259" r:id="rId5"/>
    <p:sldId id="260" r:id="rId6"/>
    <p:sldId id="265" r:id="rId7"/>
    <p:sldId id="261" r:id="rId8"/>
    <p:sldId id="262" r:id="rId9"/>
    <p:sldId id="263" r:id="rId10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14" roundtripDataSignature="AMtx7mhttJu8nqCiWzDGoWeO8sjHeqqpC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99" d="100"/>
          <a:sy n="99" d="100"/>
        </p:scale>
        <p:origin x="108" y="546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customschemas.google.com/relationships/presentationmetadata" Target="meta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" name="Google Shape;8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1" name="Google Shape;91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1" name="Google Shape;121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7" name="Google Shape;137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4" name="Google Shape;174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2">
          <a:extLst>
            <a:ext uri="{FF2B5EF4-FFF2-40B4-BE49-F238E27FC236}">
              <a16:creationId xmlns:a16="http://schemas.microsoft.com/office/drawing/2014/main" id="{3B1BA0DB-F248-9EAF-50DA-2D357CA779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5:notes">
            <a:extLst>
              <a:ext uri="{FF2B5EF4-FFF2-40B4-BE49-F238E27FC236}">
                <a16:creationId xmlns:a16="http://schemas.microsoft.com/office/drawing/2014/main" id="{11EEDDE4-995F-594C-28B7-98B10082CA2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4" name="Google Shape;174;p5:notes">
            <a:extLst>
              <a:ext uri="{FF2B5EF4-FFF2-40B4-BE49-F238E27FC236}">
                <a16:creationId xmlns:a16="http://schemas.microsoft.com/office/drawing/2014/main" id="{CE109AEC-BF9E-FBCE-CA1D-E2144B3C7D5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97983018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4" name="Google Shape;194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213;p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4" name="Google Shape;214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g3cccf256368_0_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2" name="Google Shape;232;g3cccf256368_0_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9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9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" name="Google Shape;14;p9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11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11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4" name="Google Shape;24;p1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1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1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12"/>
          <p:cNvSpPr txBox="1"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sz="4000" b="1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12"/>
          <p:cNvSpPr txBox="1"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marL="914400" lvl="1" indent="-2286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marL="1371600" lvl="2" indent="-228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marL="1828800" lvl="3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marL="2286000" lvl="4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marL="2743200" lvl="5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marL="3200400" lvl="6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marL="3657600" lvl="7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marL="4114800" lvl="8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0" name="Google Shape;30;p1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1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1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13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13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6" name="Google Shape;36;p13"/>
          <p:cNvSpPr txBox="1">
            <a:spLocks noGrp="1"/>
          </p:cNvSpPr>
          <p:nvPr>
            <p:ph type="body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7" name="Google Shape;37;p13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13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13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14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14"/>
          <p:cNvSpPr txBox="1"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3" name="Google Shape;43;p14"/>
          <p:cNvSpPr txBox="1">
            <a:spLocks noGrp="1"/>
          </p:cNvSpPr>
          <p:nvPr>
            <p:ph type="body" idx="2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4" name="Google Shape;44;p14"/>
          <p:cNvSpPr txBox="1">
            <a:spLocks noGrp="1"/>
          </p:cNvSpPr>
          <p:nvPr>
            <p:ph type="body" idx="3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5" name="Google Shape;45;p14"/>
          <p:cNvSpPr txBox="1">
            <a:spLocks noGrp="1"/>
          </p:cNvSpPr>
          <p:nvPr>
            <p:ph type="body" idx="4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6" name="Google Shape;46;p14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14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14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15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15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15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15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6"/>
          <p:cNvSpPr txBox="1"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16"/>
          <p:cNvSpPr txBox="1">
            <a:spLocks noGrp="1"/>
          </p:cNvSpPr>
          <p:nvPr>
            <p:ph type="body" idx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marL="1371600" lvl="2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marL="2286000" lvl="4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marL="2743200" lvl="5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57" name="Google Shape;57;p16"/>
          <p:cNvSpPr txBox="1">
            <a:spLocks noGrp="1"/>
          </p:cNvSpPr>
          <p:nvPr>
            <p:ph type="body" idx="2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58" name="Google Shape;58;p16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16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16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7"/>
          <p:cNvSpPr txBox="1"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17"/>
          <p:cNvSpPr>
            <a:spLocks noGrp="1"/>
          </p:cNvSpPr>
          <p:nvPr>
            <p:ph type="pic" idx="2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7"/>
          <p:cNvSpPr txBox="1">
            <a:spLocks noGrp="1"/>
          </p:cNvSpPr>
          <p:nvPr>
            <p:ph type="body" idx="1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65" name="Google Shape;65;p17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17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17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8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8"/>
          <p:cNvSpPr txBox="1">
            <a:spLocks noGrp="1"/>
          </p:cNvSpPr>
          <p:nvPr>
            <p:ph type="body" idx="1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1" name="Google Shape;71;p18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18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18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9"/>
          <p:cNvSpPr txBox="1">
            <a:spLocks noGrp="1"/>
          </p:cNvSpPr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9"/>
          <p:cNvSpPr txBox="1">
            <a:spLocks noGrp="1"/>
          </p:cNvSpPr>
          <p:nvPr>
            <p:ph type="body" idx="1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19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19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19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8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" name="Google Shape;7;p8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31800" algn="l" rtl="0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406400" algn="l" rtl="0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810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p8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" name="Google Shape;9;p8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" name="Google Shape;10;p8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1" r:id="rId2"/>
    <p:sldLayoutId id="2147483652" r:id="rId3"/>
    <p:sldLayoutId id="2147483653" r:id="rId4"/>
    <p:sldLayoutId id="2147483654" r:id="rId5"/>
    <p:sldLayoutId id="2147483655" r:id="rId6"/>
    <p:sldLayoutId id="2147483656" r:id="rId7"/>
    <p:sldLayoutId id="2147483657" r:id="rId8"/>
    <p:sldLayoutId id="2147483658" r:id="rId9"/>
    <p:sldLayoutId id="2147483659" r:id="rId10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1B2F"/>
        </a:solidFill>
        <a:effectLst/>
      </p:bgPr>
    </p:bg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B4D8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" name="Google Shape;85;p1"/>
          <p:cNvSpPr txBox="1"/>
          <p:nvPr/>
        </p:nvSpPr>
        <p:spPr>
          <a:xfrm>
            <a:off x="914400" y="1371600"/>
            <a:ext cx="10058400" cy="10972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4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Breaking the Dependency Chain</a:t>
            </a:r>
            <a:endParaRPr/>
          </a:p>
        </p:txBody>
      </p:sp>
      <p:sp>
        <p:nvSpPr>
          <p:cNvPr id="86" name="Google Shape;86;p1"/>
          <p:cNvSpPr txBox="1"/>
          <p:nvPr/>
        </p:nvSpPr>
        <p:spPr>
          <a:xfrm>
            <a:off x="914400" y="2560320"/>
            <a:ext cx="10058400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600" b="0" i="0" u="none" strike="noStrike" cap="none">
                <a:solidFill>
                  <a:srgbClr val="48CAE4"/>
                </a:solidFill>
                <a:latin typeface="Calibri"/>
                <a:ea typeface="Calibri"/>
                <a:cs typeface="Calibri"/>
                <a:sym typeface="Calibri"/>
              </a:rPr>
              <a:t>Event-Driven Architecture for Independent Teams</a:t>
            </a:r>
            <a:endParaRPr/>
          </a:p>
        </p:txBody>
      </p:sp>
      <p:sp>
        <p:nvSpPr>
          <p:cNvPr id="87" name="Google Shape;87;p1"/>
          <p:cNvSpPr/>
          <p:nvPr/>
        </p:nvSpPr>
        <p:spPr>
          <a:xfrm>
            <a:off x="914400" y="3474720"/>
            <a:ext cx="2743200" cy="36576"/>
          </a:xfrm>
          <a:prstGeom prst="rect">
            <a:avLst/>
          </a:prstGeom>
          <a:solidFill>
            <a:srgbClr val="00B4D8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8" name="Google Shape;88;p1"/>
          <p:cNvSpPr txBox="1"/>
          <p:nvPr/>
        </p:nvSpPr>
        <p:spPr>
          <a:xfrm>
            <a:off x="914400" y="3840480"/>
            <a:ext cx="914400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>
                <a:solidFill>
                  <a:srgbClr val="B0B0C8"/>
                </a:solidFill>
                <a:latin typeface="Calibri"/>
                <a:ea typeface="Calibri"/>
                <a:cs typeface="Calibri"/>
                <a:sym typeface="Calibri"/>
              </a:rPr>
              <a:t>How domain events, stream processing, and infrastructure abstraction</a:t>
            </a:r>
            <a:br>
              <a:rPr lang="en-US" sz="1800" b="0" i="0" u="none" strike="noStrike" cap="none">
                <a:solidFill>
                  <a:srgbClr val="B0B0C8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800" b="0" i="0" u="none" strike="noStrike" cap="none">
                <a:solidFill>
                  <a:srgbClr val="B0B0C8"/>
                </a:solidFill>
                <a:latin typeface="Calibri"/>
                <a:ea typeface="Calibri"/>
                <a:cs typeface="Calibri"/>
                <a:sym typeface="Calibri"/>
              </a:rPr>
              <a:t>eliminate coupling at every layer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1B2F"/>
        </a:solidFill>
        <a:effectLst/>
      </p:bgPr>
    </p:bg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EF476F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4" name="Google Shape;94;p2"/>
          <p:cNvSpPr txBox="1"/>
          <p:nvPr/>
        </p:nvSpPr>
        <p:spPr>
          <a:xfrm>
            <a:off x="731520" y="365760"/>
            <a:ext cx="10058400" cy="640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400" b="1" i="0" u="none" strike="noStrike" cap="none">
                <a:solidFill>
                  <a:srgbClr val="EF476F"/>
                </a:solidFill>
                <a:latin typeface="Calibri"/>
                <a:ea typeface="Calibri"/>
                <a:cs typeface="Calibri"/>
                <a:sym typeface="Calibri"/>
              </a:rPr>
              <a:t>The Problem: Independence in Name Only</a:t>
            </a:r>
            <a:endParaRPr/>
          </a:p>
        </p:txBody>
      </p:sp>
      <p:sp>
        <p:nvSpPr>
          <p:cNvPr id="95" name="Google Shape;95;p2"/>
          <p:cNvSpPr/>
          <p:nvPr/>
        </p:nvSpPr>
        <p:spPr>
          <a:xfrm>
            <a:off x="731520" y="1051560"/>
            <a:ext cx="2286000" cy="36576"/>
          </a:xfrm>
          <a:prstGeom prst="rect">
            <a:avLst/>
          </a:prstGeom>
          <a:solidFill>
            <a:srgbClr val="EF476F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6" name="Google Shape;96;p2"/>
          <p:cNvSpPr/>
          <p:nvPr/>
        </p:nvSpPr>
        <p:spPr>
          <a:xfrm>
            <a:off x="731520" y="1463040"/>
            <a:ext cx="5029200" cy="1005840"/>
          </a:xfrm>
          <a:prstGeom prst="roundRect">
            <a:avLst>
              <a:gd name="adj" fmla="val 16667"/>
            </a:avLst>
          </a:prstGeom>
          <a:solidFill>
            <a:srgbClr val="23233D"/>
          </a:solidFill>
          <a:ln w="19050" cap="flat" cmpd="sng">
            <a:solidFill>
              <a:srgbClr val="EF476F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7" name="Google Shape;97;p2"/>
          <p:cNvSpPr txBox="1"/>
          <p:nvPr/>
        </p:nvSpPr>
        <p:spPr>
          <a:xfrm>
            <a:off x="1005840" y="1536192"/>
            <a:ext cx="457200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 i="0" u="none" strike="noStrike" cap="none">
                <a:solidFill>
                  <a:srgbClr val="EF476F"/>
                </a:solidFill>
                <a:latin typeface="Calibri"/>
                <a:ea typeface="Calibri"/>
                <a:cs typeface="Calibri"/>
                <a:sym typeface="Calibri"/>
              </a:rPr>
              <a:t>Shared Databases</a:t>
            </a:r>
            <a:endParaRPr/>
          </a:p>
        </p:txBody>
      </p:sp>
      <p:sp>
        <p:nvSpPr>
          <p:cNvPr id="98" name="Google Shape;98;p2"/>
          <p:cNvSpPr txBox="1"/>
          <p:nvPr/>
        </p:nvSpPr>
        <p:spPr>
          <a:xfrm>
            <a:off x="1005840" y="1847088"/>
            <a:ext cx="457200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0" i="0" u="none" strike="noStrike" cap="none">
                <a:solidFill>
                  <a:srgbClr val="B0B0C8"/>
                </a:solidFill>
                <a:latin typeface="Calibri"/>
                <a:ea typeface="Calibri"/>
                <a:cs typeface="Calibri"/>
                <a:sym typeface="Calibri"/>
              </a:rPr>
              <a:t>Multiple teams read/write the same tables.</a:t>
            </a:r>
            <a:br>
              <a:rPr lang="en-US" sz="1300" b="0" i="0" u="none" strike="noStrike" cap="none">
                <a:solidFill>
                  <a:srgbClr val="B0B0C8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300" b="0" i="0" u="none" strike="noStrike" cap="none">
                <a:solidFill>
                  <a:srgbClr val="B0B0C8"/>
                </a:solidFill>
                <a:latin typeface="Calibri"/>
                <a:ea typeface="Calibri"/>
                <a:cs typeface="Calibri"/>
                <a:sym typeface="Calibri"/>
              </a:rPr>
              <a:t>Schema changes require cross-team coordination.</a:t>
            </a:r>
            <a:endParaRPr/>
          </a:p>
        </p:txBody>
      </p:sp>
      <p:sp>
        <p:nvSpPr>
          <p:cNvPr id="99" name="Google Shape;99;p2"/>
          <p:cNvSpPr/>
          <p:nvPr/>
        </p:nvSpPr>
        <p:spPr>
          <a:xfrm>
            <a:off x="731520" y="2606040"/>
            <a:ext cx="5029200" cy="1005840"/>
          </a:xfrm>
          <a:prstGeom prst="roundRect">
            <a:avLst>
              <a:gd name="adj" fmla="val 16667"/>
            </a:avLst>
          </a:prstGeom>
          <a:solidFill>
            <a:srgbClr val="23233D"/>
          </a:solidFill>
          <a:ln w="19050" cap="flat" cmpd="sng">
            <a:solidFill>
              <a:srgbClr val="EF476F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0" name="Google Shape;100;p2"/>
          <p:cNvSpPr txBox="1"/>
          <p:nvPr/>
        </p:nvSpPr>
        <p:spPr>
          <a:xfrm>
            <a:off x="1005840" y="2679192"/>
            <a:ext cx="457200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 i="0" u="none" strike="noStrike" cap="none">
                <a:solidFill>
                  <a:srgbClr val="EF476F"/>
                </a:solidFill>
                <a:latin typeface="Calibri"/>
                <a:ea typeface="Calibri"/>
                <a:cs typeface="Calibri"/>
                <a:sym typeface="Calibri"/>
              </a:rPr>
              <a:t>API Dependency Chains</a:t>
            </a:r>
            <a:endParaRPr/>
          </a:p>
        </p:txBody>
      </p:sp>
      <p:sp>
        <p:nvSpPr>
          <p:cNvPr id="101" name="Google Shape;101;p2"/>
          <p:cNvSpPr txBox="1"/>
          <p:nvPr/>
        </p:nvSpPr>
        <p:spPr>
          <a:xfrm>
            <a:off x="1005840" y="2990088"/>
            <a:ext cx="4572000" cy="4924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0" i="0" u="none" strike="noStrike" cap="none" dirty="0">
                <a:solidFill>
                  <a:srgbClr val="B0B0C8"/>
                </a:solidFill>
                <a:latin typeface="Calibri"/>
                <a:ea typeface="Calibri"/>
                <a:cs typeface="Calibri"/>
                <a:sym typeface="Calibri"/>
              </a:rPr>
              <a:t>Service A calls B, which calls C, which calls D.</a:t>
            </a:r>
            <a:br>
              <a:rPr lang="en-US" sz="1300" b="0" i="0" u="none" strike="noStrike" cap="none" dirty="0">
                <a:solidFill>
                  <a:srgbClr val="B0B0C8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300" b="0" i="0" u="none" strike="noStrike" cap="none" dirty="0">
                <a:solidFill>
                  <a:srgbClr val="B0B0C8"/>
                </a:solidFill>
                <a:latin typeface="Calibri"/>
                <a:ea typeface="Calibri"/>
                <a:cs typeface="Calibri"/>
                <a:sym typeface="Calibri"/>
              </a:rPr>
              <a:t>A single slow or defective endpoint cascades everywhere.</a:t>
            </a:r>
            <a:endParaRPr dirty="0"/>
          </a:p>
        </p:txBody>
      </p:sp>
      <p:sp>
        <p:nvSpPr>
          <p:cNvPr id="102" name="Google Shape;102;p2"/>
          <p:cNvSpPr/>
          <p:nvPr/>
        </p:nvSpPr>
        <p:spPr>
          <a:xfrm>
            <a:off x="731520" y="3749040"/>
            <a:ext cx="5029200" cy="1005840"/>
          </a:xfrm>
          <a:prstGeom prst="roundRect">
            <a:avLst>
              <a:gd name="adj" fmla="val 16667"/>
            </a:avLst>
          </a:prstGeom>
          <a:solidFill>
            <a:srgbClr val="23233D"/>
          </a:solidFill>
          <a:ln w="19050" cap="flat" cmpd="sng">
            <a:solidFill>
              <a:srgbClr val="EF476F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3" name="Google Shape;103;p2"/>
          <p:cNvSpPr txBox="1"/>
          <p:nvPr/>
        </p:nvSpPr>
        <p:spPr>
          <a:xfrm>
            <a:off x="1005840" y="3822192"/>
            <a:ext cx="457200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 i="0" u="none" strike="noStrike" cap="none">
                <a:solidFill>
                  <a:srgbClr val="EF476F"/>
                </a:solidFill>
                <a:latin typeface="Calibri"/>
                <a:ea typeface="Calibri"/>
                <a:cs typeface="Calibri"/>
                <a:sym typeface="Calibri"/>
              </a:rPr>
              <a:t>Synchronized Deployments</a:t>
            </a:r>
            <a:endParaRPr/>
          </a:p>
        </p:txBody>
      </p:sp>
      <p:sp>
        <p:nvSpPr>
          <p:cNvPr id="104" name="Google Shape;104;p2"/>
          <p:cNvSpPr txBox="1"/>
          <p:nvPr/>
        </p:nvSpPr>
        <p:spPr>
          <a:xfrm>
            <a:off x="1005840" y="4133088"/>
            <a:ext cx="457200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0" i="0" u="none" strike="noStrike" cap="none">
                <a:solidFill>
                  <a:srgbClr val="B0B0C8"/>
                </a:solidFill>
                <a:latin typeface="Calibri"/>
                <a:ea typeface="Calibri"/>
                <a:cs typeface="Calibri"/>
                <a:sym typeface="Calibri"/>
              </a:rPr>
              <a:t>Coupled services must deploy together.</a:t>
            </a:r>
            <a:br>
              <a:rPr lang="en-US" sz="1300" b="0" i="0" u="none" strike="noStrike" cap="none">
                <a:solidFill>
                  <a:srgbClr val="B0B0C8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300" b="0" i="0" u="none" strike="noStrike" cap="none">
                <a:solidFill>
                  <a:srgbClr val="B0B0C8"/>
                </a:solidFill>
                <a:latin typeface="Calibri"/>
                <a:ea typeface="Calibri"/>
                <a:cs typeface="Calibri"/>
                <a:sym typeface="Calibri"/>
              </a:rPr>
              <a:t>One team's release blocks another.</a:t>
            </a:r>
            <a:endParaRPr/>
          </a:p>
        </p:txBody>
      </p:sp>
      <p:sp>
        <p:nvSpPr>
          <p:cNvPr id="105" name="Google Shape;105;p2"/>
          <p:cNvSpPr/>
          <p:nvPr/>
        </p:nvSpPr>
        <p:spPr>
          <a:xfrm>
            <a:off x="731520" y="4892040"/>
            <a:ext cx="5029200" cy="1005840"/>
          </a:xfrm>
          <a:prstGeom prst="roundRect">
            <a:avLst>
              <a:gd name="adj" fmla="val 16667"/>
            </a:avLst>
          </a:prstGeom>
          <a:solidFill>
            <a:srgbClr val="23233D"/>
          </a:solidFill>
          <a:ln w="19050" cap="flat" cmpd="sng">
            <a:solidFill>
              <a:srgbClr val="EF476F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6" name="Google Shape;106;p2"/>
          <p:cNvSpPr txBox="1"/>
          <p:nvPr/>
        </p:nvSpPr>
        <p:spPr>
          <a:xfrm>
            <a:off x="1005840" y="4965192"/>
            <a:ext cx="457200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 i="0" u="none" strike="noStrike" cap="none">
                <a:solidFill>
                  <a:srgbClr val="EF476F"/>
                </a:solidFill>
                <a:latin typeface="Calibri"/>
                <a:ea typeface="Calibri"/>
                <a:cs typeface="Calibri"/>
                <a:sym typeface="Calibri"/>
              </a:rPr>
              <a:t>Cascading Failures</a:t>
            </a:r>
            <a:endParaRPr/>
          </a:p>
        </p:txBody>
      </p:sp>
      <p:sp>
        <p:nvSpPr>
          <p:cNvPr id="107" name="Google Shape;107;p2"/>
          <p:cNvSpPr txBox="1"/>
          <p:nvPr/>
        </p:nvSpPr>
        <p:spPr>
          <a:xfrm>
            <a:off x="1005840" y="5276088"/>
            <a:ext cx="457200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0" i="0" u="none" strike="noStrike" cap="none">
                <a:solidFill>
                  <a:srgbClr val="B0B0C8"/>
                </a:solidFill>
                <a:latin typeface="Calibri"/>
                <a:ea typeface="Calibri"/>
                <a:cs typeface="Calibri"/>
                <a:sym typeface="Calibri"/>
              </a:rPr>
              <a:t>One service goes down and takes</a:t>
            </a:r>
            <a:br>
              <a:rPr lang="en-US" sz="1300" b="0" i="0" u="none" strike="noStrike" cap="none">
                <a:solidFill>
                  <a:srgbClr val="B0B0C8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300" b="0" i="0" u="none" strike="noStrike" cap="none">
                <a:solidFill>
                  <a:srgbClr val="B0B0C8"/>
                </a:solidFill>
                <a:latin typeface="Calibri"/>
                <a:ea typeface="Calibri"/>
                <a:cs typeface="Calibri"/>
                <a:sym typeface="Calibri"/>
              </a:rPr>
              <a:t>the rest of the chain with it.</a:t>
            </a:r>
            <a:endParaRPr/>
          </a:p>
        </p:txBody>
      </p:sp>
      <p:sp>
        <p:nvSpPr>
          <p:cNvPr id="108" name="Google Shape;108;p2"/>
          <p:cNvSpPr txBox="1"/>
          <p:nvPr/>
        </p:nvSpPr>
        <p:spPr>
          <a:xfrm>
            <a:off x="6858000" y="1371600"/>
            <a:ext cx="45720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>
                <a:solidFill>
                  <a:srgbClr val="B0B0C8"/>
                </a:solidFill>
                <a:latin typeface="Calibri"/>
                <a:ea typeface="Calibri"/>
                <a:cs typeface="Calibri"/>
                <a:sym typeface="Calibri"/>
              </a:rPr>
              <a:t>Typical Microservice "Independence"</a:t>
            </a:r>
            <a:endParaRPr/>
          </a:p>
        </p:txBody>
      </p:sp>
      <p:sp>
        <p:nvSpPr>
          <p:cNvPr id="109" name="Google Shape;109;p2"/>
          <p:cNvSpPr/>
          <p:nvPr/>
        </p:nvSpPr>
        <p:spPr>
          <a:xfrm>
            <a:off x="7132320" y="2011680"/>
            <a:ext cx="2011680" cy="594360"/>
          </a:xfrm>
          <a:prstGeom prst="roundRect">
            <a:avLst>
              <a:gd name="adj" fmla="val 16667"/>
            </a:avLst>
          </a:prstGeom>
          <a:solidFill>
            <a:srgbClr val="23233D"/>
          </a:solidFill>
          <a:ln w="19050" cap="flat" cmpd="sng">
            <a:solidFill>
              <a:srgbClr val="00B4D8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Frontend</a:t>
            </a:r>
            <a:endParaRPr/>
          </a:p>
        </p:txBody>
      </p:sp>
      <p:sp>
        <p:nvSpPr>
          <p:cNvPr id="110" name="Google Shape;110;p2"/>
          <p:cNvSpPr/>
          <p:nvPr/>
        </p:nvSpPr>
        <p:spPr>
          <a:xfrm>
            <a:off x="8001000" y="2606040"/>
            <a:ext cx="274320" cy="2743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0B4D8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1" name="Google Shape;111;p2"/>
          <p:cNvSpPr/>
          <p:nvPr/>
        </p:nvSpPr>
        <p:spPr>
          <a:xfrm>
            <a:off x="7132320" y="2880360"/>
            <a:ext cx="2011680" cy="594360"/>
          </a:xfrm>
          <a:prstGeom prst="roundRect">
            <a:avLst>
              <a:gd name="adj" fmla="val 16667"/>
            </a:avLst>
          </a:prstGeom>
          <a:solidFill>
            <a:srgbClr val="23233D"/>
          </a:solidFill>
          <a:ln w="19050" cap="flat" cmpd="sng">
            <a:solidFill>
              <a:srgbClr val="00B4D8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API Gateway</a:t>
            </a:r>
            <a:endParaRPr/>
          </a:p>
        </p:txBody>
      </p:sp>
      <p:sp>
        <p:nvSpPr>
          <p:cNvPr id="112" name="Google Shape;112;p2"/>
          <p:cNvSpPr/>
          <p:nvPr/>
        </p:nvSpPr>
        <p:spPr>
          <a:xfrm>
            <a:off x="8001000" y="3474720"/>
            <a:ext cx="274320" cy="2743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0B4D8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3" name="Google Shape;113;p2"/>
          <p:cNvSpPr/>
          <p:nvPr/>
        </p:nvSpPr>
        <p:spPr>
          <a:xfrm>
            <a:off x="7132320" y="3749040"/>
            <a:ext cx="2011680" cy="594360"/>
          </a:xfrm>
          <a:prstGeom prst="roundRect">
            <a:avLst>
              <a:gd name="adj" fmla="val 16667"/>
            </a:avLst>
          </a:prstGeom>
          <a:solidFill>
            <a:srgbClr val="23233D"/>
          </a:solidFill>
          <a:ln w="19050" cap="flat" cmpd="sng">
            <a:solidFill>
              <a:srgbClr val="00B4D8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Order Service</a:t>
            </a:r>
            <a:endParaRPr/>
          </a:p>
        </p:txBody>
      </p:sp>
      <p:sp>
        <p:nvSpPr>
          <p:cNvPr id="114" name="Google Shape;114;p2"/>
          <p:cNvSpPr/>
          <p:nvPr/>
        </p:nvSpPr>
        <p:spPr>
          <a:xfrm>
            <a:off x="8001000" y="4343400"/>
            <a:ext cx="274320" cy="2743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0B4D8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5" name="Google Shape;115;p2"/>
          <p:cNvSpPr/>
          <p:nvPr/>
        </p:nvSpPr>
        <p:spPr>
          <a:xfrm>
            <a:off x="7132320" y="4617720"/>
            <a:ext cx="2011680" cy="594360"/>
          </a:xfrm>
          <a:prstGeom prst="roundRect">
            <a:avLst>
              <a:gd name="adj" fmla="val 16667"/>
            </a:avLst>
          </a:prstGeom>
          <a:solidFill>
            <a:srgbClr val="23233D"/>
          </a:solidFill>
          <a:ln w="19050" cap="flat" cmpd="sng">
            <a:solidFill>
              <a:srgbClr val="FF9F1C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 i="0" u="none" strike="noStrike" cap="none">
                <a:solidFill>
                  <a:srgbClr val="FF9F1C"/>
                </a:solidFill>
                <a:latin typeface="Calibri"/>
                <a:ea typeface="Calibri"/>
                <a:cs typeface="Calibri"/>
                <a:sym typeface="Calibri"/>
              </a:rPr>
              <a:t>Inventory Service</a:t>
            </a:r>
            <a:endParaRPr/>
          </a:p>
        </p:txBody>
      </p:sp>
      <p:sp>
        <p:nvSpPr>
          <p:cNvPr id="116" name="Google Shape;116;p2"/>
          <p:cNvSpPr/>
          <p:nvPr/>
        </p:nvSpPr>
        <p:spPr>
          <a:xfrm>
            <a:off x="8001000" y="5212080"/>
            <a:ext cx="274320" cy="2743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FF9F1C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7" name="Google Shape;117;p2"/>
          <p:cNvSpPr/>
          <p:nvPr/>
        </p:nvSpPr>
        <p:spPr>
          <a:xfrm>
            <a:off x="7132320" y="5486400"/>
            <a:ext cx="2011680" cy="594360"/>
          </a:xfrm>
          <a:prstGeom prst="roundRect">
            <a:avLst>
              <a:gd name="adj" fmla="val 16667"/>
            </a:avLst>
          </a:prstGeom>
          <a:solidFill>
            <a:srgbClr val="23233D"/>
          </a:solidFill>
          <a:ln w="19050" cap="flat" cmpd="sng">
            <a:solidFill>
              <a:srgbClr val="EF476F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 i="0" u="none" strike="noStrike" cap="none">
                <a:solidFill>
                  <a:srgbClr val="EF476F"/>
                </a:solidFill>
                <a:latin typeface="Calibri"/>
                <a:ea typeface="Calibri"/>
                <a:cs typeface="Calibri"/>
                <a:sym typeface="Calibri"/>
              </a:rPr>
              <a:t>Payment Service</a:t>
            </a:r>
            <a:endParaRPr/>
          </a:p>
        </p:txBody>
      </p:sp>
      <p:sp>
        <p:nvSpPr>
          <p:cNvPr id="118" name="Google Shape;118;p2"/>
          <p:cNvSpPr txBox="1"/>
          <p:nvPr/>
        </p:nvSpPr>
        <p:spPr>
          <a:xfrm>
            <a:off x="5691725" y="6263655"/>
            <a:ext cx="5029200" cy="30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 i="0" u="none" strike="noStrike" cap="none">
                <a:solidFill>
                  <a:srgbClr val="EF476F"/>
                </a:solidFill>
                <a:latin typeface="Calibri"/>
                <a:ea typeface="Calibri"/>
                <a:cs typeface="Calibri"/>
                <a:sym typeface="Calibri"/>
              </a:rPr>
              <a:t>One slow service slows everything above it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1B2F"/>
        </a:solidFill>
        <a:effectLst/>
      </p:bgPr>
    </p:bg>
    <p:spTree>
      <p:nvGrpSpPr>
        <p:cNvPr id="1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3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6D6A0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4" name="Google Shape;124;p3"/>
          <p:cNvSpPr txBox="1"/>
          <p:nvPr/>
        </p:nvSpPr>
        <p:spPr>
          <a:xfrm>
            <a:off x="731520" y="365760"/>
            <a:ext cx="10058400" cy="640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400" b="1" i="0" u="none" strike="noStrike" cap="none">
                <a:solidFill>
                  <a:srgbClr val="06D6A0"/>
                </a:solidFill>
                <a:latin typeface="Calibri"/>
                <a:ea typeface="Calibri"/>
                <a:cs typeface="Calibri"/>
                <a:sym typeface="Calibri"/>
              </a:rPr>
              <a:t>The Solution: Decouple at Every Layer</a:t>
            </a:r>
            <a:endParaRPr/>
          </a:p>
        </p:txBody>
      </p:sp>
      <p:sp>
        <p:nvSpPr>
          <p:cNvPr id="125" name="Google Shape;125;p3"/>
          <p:cNvSpPr/>
          <p:nvPr/>
        </p:nvSpPr>
        <p:spPr>
          <a:xfrm>
            <a:off x="731520" y="1051560"/>
            <a:ext cx="2286000" cy="36576"/>
          </a:xfrm>
          <a:prstGeom prst="rect">
            <a:avLst/>
          </a:prstGeom>
          <a:solidFill>
            <a:srgbClr val="06D6A0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6" name="Google Shape;126;p3"/>
          <p:cNvSpPr txBox="1"/>
          <p:nvPr/>
        </p:nvSpPr>
        <p:spPr>
          <a:xfrm>
            <a:off x="731520" y="1463040"/>
            <a:ext cx="338328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00" b="1" i="0" u="none" strike="noStrike" cap="none">
                <a:solidFill>
                  <a:srgbClr val="06D6A0"/>
                </a:solidFill>
                <a:latin typeface="Calibri"/>
                <a:ea typeface="Calibri"/>
                <a:cs typeface="Calibri"/>
                <a:sym typeface="Calibri"/>
              </a:rPr>
              <a:t>No Shared Database</a:t>
            </a:r>
            <a:endParaRPr/>
          </a:p>
        </p:txBody>
      </p:sp>
      <p:sp>
        <p:nvSpPr>
          <p:cNvPr id="127" name="Google Shape;127;p3"/>
          <p:cNvSpPr/>
          <p:nvPr/>
        </p:nvSpPr>
        <p:spPr>
          <a:xfrm>
            <a:off x="731520" y="1965960"/>
            <a:ext cx="1645920" cy="27432"/>
          </a:xfrm>
          <a:prstGeom prst="rect">
            <a:avLst/>
          </a:prstGeom>
          <a:solidFill>
            <a:srgbClr val="06D6A0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8" name="Google Shape;128;p3"/>
          <p:cNvSpPr txBox="1"/>
          <p:nvPr/>
        </p:nvSpPr>
        <p:spPr>
          <a:xfrm>
            <a:off x="731520" y="2194560"/>
            <a:ext cx="338328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 i="0" u="none" strike="noStrike" cap="none">
                <a:solidFill>
                  <a:srgbClr val="B0B0C8"/>
                </a:solidFill>
                <a:latin typeface="Calibri"/>
                <a:ea typeface="Calibri"/>
                <a:cs typeface="Calibri"/>
                <a:sym typeface="Calibri"/>
              </a:rPr>
              <a:t>Each service owns its data store.</a:t>
            </a:r>
            <a:br>
              <a:rPr lang="en-US" sz="1400" b="0" i="0" u="none" strike="noStrike" cap="none">
                <a:solidFill>
                  <a:srgbClr val="B0B0C8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US" sz="1400" b="0" i="0" u="none" strike="noStrike" cap="none">
                <a:solidFill>
                  <a:srgbClr val="B0B0C8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400" b="0" i="0" u="none" strike="noStrike" cap="none">
                <a:solidFill>
                  <a:srgbClr val="B0B0C8"/>
                </a:solidFill>
                <a:latin typeface="Calibri"/>
                <a:ea typeface="Calibri"/>
                <a:cs typeface="Calibri"/>
                <a:sym typeface="Calibri"/>
              </a:rPr>
              <a:t>Payroll API  →  MongoDB</a:t>
            </a:r>
            <a:br>
              <a:rPr lang="en-US" sz="1400" b="0" i="0" u="none" strike="noStrike" cap="none">
                <a:solidFill>
                  <a:srgbClr val="B0B0C8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400" b="0" i="0" u="none" strike="noStrike" cap="none">
                <a:solidFill>
                  <a:srgbClr val="B0B0C8"/>
                </a:solidFill>
                <a:latin typeface="Calibri"/>
                <a:ea typeface="Calibri"/>
                <a:cs typeface="Calibri"/>
                <a:sym typeface="Calibri"/>
              </a:rPr>
              <a:t>Listener API  →  MySQL</a:t>
            </a:r>
            <a:br>
              <a:rPr lang="en-US" sz="1400" b="0" i="0" u="none" strike="noStrike" cap="none">
                <a:solidFill>
                  <a:srgbClr val="B0B0C8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400" b="0" i="0" u="none" strike="noStrike" cap="none">
                <a:solidFill>
                  <a:srgbClr val="B0B0C8"/>
                </a:solidFill>
                <a:latin typeface="Calibri"/>
                <a:ea typeface="Calibri"/>
                <a:cs typeface="Calibri"/>
                <a:sym typeface="Calibri"/>
              </a:rPr>
              <a:t>Stream Processing  →  Kafka</a:t>
            </a:r>
            <a:br>
              <a:rPr lang="en-US" sz="1400" b="0" i="0" u="none" strike="noStrike" cap="none">
                <a:solidFill>
                  <a:srgbClr val="B0B0C8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US" sz="1400" b="0" i="0" u="none" strike="noStrike" cap="none">
                <a:solidFill>
                  <a:srgbClr val="B0B0C8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400" b="0" i="0" u="none" strike="noStrike" cap="none">
                <a:solidFill>
                  <a:srgbClr val="B0B0C8"/>
                </a:solidFill>
                <a:latin typeface="Calibri"/>
                <a:ea typeface="Calibri"/>
                <a:cs typeface="Calibri"/>
                <a:sym typeface="Calibri"/>
              </a:rPr>
              <a:t>Schema changes stay within team boundaries.</a:t>
            </a:r>
            <a:endParaRPr/>
          </a:p>
        </p:txBody>
      </p:sp>
      <p:sp>
        <p:nvSpPr>
          <p:cNvPr id="129" name="Google Shape;129;p3"/>
          <p:cNvSpPr txBox="1"/>
          <p:nvPr/>
        </p:nvSpPr>
        <p:spPr>
          <a:xfrm>
            <a:off x="4572000" y="1463040"/>
            <a:ext cx="338328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00" b="1" i="0" u="none" strike="noStrike" cap="none">
                <a:solidFill>
                  <a:srgbClr val="00B4D8"/>
                </a:solidFill>
                <a:latin typeface="Calibri"/>
                <a:ea typeface="Calibri"/>
                <a:cs typeface="Calibri"/>
                <a:sym typeface="Calibri"/>
              </a:rPr>
              <a:t>Events, Not API Calls</a:t>
            </a:r>
            <a:endParaRPr/>
          </a:p>
        </p:txBody>
      </p:sp>
      <p:sp>
        <p:nvSpPr>
          <p:cNvPr id="130" name="Google Shape;130;p3"/>
          <p:cNvSpPr/>
          <p:nvPr/>
        </p:nvSpPr>
        <p:spPr>
          <a:xfrm>
            <a:off x="4572000" y="1965960"/>
            <a:ext cx="1645920" cy="27432"/>
          </a:xfrm>
          <a:prstGeom prst="rect">
            <a:avLst/>
          </a:prstGeom>
          <a:solidFill>
            <a:srgbClr val="00B4D8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1" name="Google Shape;131;p3"/>
          <p:cNvSpPr txBox="1"/>
          <p:nvPr/>
        </p:nvSpPr>
        <p:spPr>
          <a:xfrm>
            <a:off x="4572000" y="2194560"/>
            <a:ext cx="338328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 i="0" u="none" strike="noStrike" cap="none">
                <a:solidFill>
                  <a:srgbClr val="B0B0C8"/>
                </a:solidFill>
                <a:latin typeface="Calibri"/>
                <a:ea typeface="Calibri"/>
                <a:cs typeface="Calibri"/>
                <a:sym typeface="Calibri"/>
              </a:rPr>
              <a:t>Services communicate through domain events on Kafka.</a:t>
            </a:r>
            <a:br>
              <a:rPr lang="en-US" sz="1400" b="0" i="0" u="none" strike="noStrike" cap="none">
                <a:solidFill>
                  <a:srgbClr val="B0B0C8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US" sz="1400" b="0" i="0" u="none" strike="noStrike" cap="none">
                <a:solidFill>
                  <a:srgbClr val="B0B0C8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400" b="0" i="0" u="none" strike="noStrike" cap="none">
                <a:solidFill>
                  <a:srgbClr val="B0B0C8"/>
                </a:solidFill>
                <a:latin typeface="Calibri"/>
                <a:ea typeface="Calibri"/>
                <a:cs typeface="Calibri"/>
                <a:sym typeface="Calibri"/>
              </a:rPr>
              <a:t>No service ever calls another service directly. A downstream consumer being slow or offline has zero impact on the producer.</a:t>
            </a:r>
            <a:br>
              <a:rPr lang="en-US" sz="1400" b="0" i="0" u="none" strike="noStrike" cap="none">
                <a:solidFill>
                  <a:srgbClr val="B0B0C8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US" sz="1400" b="0" i="0" u="none" strike="noStrike" cap="none">
                <a:solidFill>
                  <a:srgbClr val="B0B0C8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400" b="0" i="0" u="none" strike="noStrike" cap="none">
                <a:solidFill>
                  <a:srgbClr val="B0B0C8"/>
                </a:solidFill>
                <a:latin typeface="Calibri"/>
                <a:ea typeface="Calibri"/>
                <a:cs typeface="Calibri"/>
                <a:sym typeface="Calibri"/>
              </a:rPr>
              <a:t>Teams deploy on their own schedule.</a:t>
            </a:r>
            <a:endParaRPr/>
          </a:p>
        </p:txBody>
      </p:sp>
      <p:sp>
        <p:nvSpPr>
          <p:cNvPr id="132" name="Google Shape;132;p3"/>
          <p:cNvSpPr txBox="1"/>
          <p:nvPr/>
        </p:nvSpPr>
        <p:spPr>
          <a:xfrm>
            <a:off x="8412480" y="1463040"/>
            <a:ext cx="338328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00" b="1" i="0" u="none" strike="noStrike" cap="none">
                <a:solidFill>
                  <a:srgbClr val="FFD600"/>
                </a:solidFill>
                <a:latin typeface="Calibri"/>
                <a:ea typeface="Calibri"/>
                <a:cs typeface="Calibri"/>
                <a:sym typeface="Calibri"/>
              </a:rPr>
              <a:t>Atomic Outbox Pattern</a:t>
            </a:r>
            <a:endParaRPr/>
          </a:p>
        </p:txBody>
      </p:sp>
      <p:sp>
        <p:nvSpPr>
          <p:cNvPr id="133" name="Google Shape;133;p3"/>
          <p:cNvSpPr/>
          <p:nvPr/>
        </p:nvSpPr>
        <p:spPr>
          <a:xfrm>
            <a:off x="8412480" y="1965960"/>
            <a:ext cx="1645920" cy="27432"/>
          </a:xfrm>
          <a:prstGeom prst="rect">
            <a:avLst/>
          </a:prstGeom>
          <a:solidFill>
            <a:srgbClr val="FFD600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4" name="Google Shape;134;p3"/>
          <p:cNvSpPr txBox="1"/>
          <p:nvPr/>
        </p:nvSpPr>
        <p:spPr>
          <a:xfrm>
            <a:off x="8412480" y="2194560"/>
            <a:ext cx="338328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 i="0" u="none" strike="noStrike" cap="none">
                <a:solidFill>
                  <a:srgbClr val="B0B0C8"/>
                </a:solidFill>
                <a:latin typeface="Calibri"/>
                <a:ea typeface="Calibri"/>
                <a:cs typeface="Calibri"/>
                <a:sym typeface="Calibri"/>
              </a:rPr>
              <a:t>Entity state + event published in a single atomic transaction.</a:t>
            </a:r>
            <a:br>
              <a:rPr lang="en-US" sz="1400" b="0" i="0" u="none" strike="noStrike" cap="none">
                <a:solidFill>
                  <a:srgbClr val="B0B0C8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US" sz="1400" b="0" i="0" u="none" strike="noStrike" cap="none">
                <a:solidFill>
                  <a:srgbClr val="B0B0C8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400" b="0" i="0" u="none" strike="noStrike" cap="none">
                <a:solidFill>
                  <a:srgbClr val="B0B0C8"/>
                </a:solidFill>
                <a:latin typeface="Calibri"/>
                <a:ea typeface="Calibri"/>
                <a:cs typeface="Calibri"/>
                <a:sym typeface="Calibri"/>
              </a:rPr>
              <a:t>No dual-write problem.</a:t>
            </a:r>
            <a:br>
              <a:rPr lang="en-US" sz="1400" b="0" i="0" u="none" strike="noStrike" cap="none">
                <a:solidFill>
                  <a:srgbClr val="B0B0C8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400" b="0" i="0" u="none" strike="noStrike" cap="none">
                <a:solidFill>
                  <a:srgbClr val="B0B0C8"/>
                </a:solidFill>
                <a:latin typeface="Calibri"/>
                <a:ea typeface="Calibri"/>
                <a:cs typeface="Calibri"/>
                <a:sym typeface="Calibri"/>
              </a:rPr>
              <a:t>No distributed transactions.</a:t>
            </a:r>
            <a:br>
              <a:rPr lang="en-US" sz="1400" b="0" i="0" u="none" strike="noStrike" cap="none">
                <a:solidFill>
                  <a:srgbClr val="B0B0C8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400" b="0" i="0" u="none" strike="noStrike" cap="none">
                <a:solidFill>
                  <a:srgbClr val="B0B0C8"/>
                </a:solidFill>
                <a:latin typeface="Calibri"/>
                <a:ea typeface="Calibri"/>
                <a:cs typeface="Calibri"/>
                <a:sym typeface="Calibri"/>
              </a:rPr>
              <a:t>No eventual consistency surprises.</a:t>
            </a:r>
            <a:br>
              <a:rPr lang="en-US" sz="1400" b="0" i="0" u="none" strike="noStrike" cap="none">
                <a:solidFill>
                  <a:srgbClr val="B0B0C8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US" sz="1400" b="0" i="0" u="none" strike="noStrike" cap="none">
                <a:solidFill>
                  <a:srgbClr val="B0B0C8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400" b="0" i="0" u="none" strike="noStrike" cap="none">
                <a:solidFill>
                  <a:srgbClr val="B0B0C8"/>
                </a:solidFill>
                <a:latin typeface="Calibri"/>
                <a:ea typeface="Calibri"/>
                <a:cs typeface="Calibri"/>
                <a:sym typeface="Calibri"/>
              </a:rPr>
              <a:t>If the write succeeds, the event is guaranteed to publish.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1B2F"/>
        </a:solidFill>
        <a:effectLst/>
      </p:bgPr>
    </p:bg>
    <p:spTree>
      <p:nvGrpSpPr>
        <p:cNvPr id="1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4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0" name="Google Shape;140;p4"/>
          <p:cNvSpPr txBox="1"/>
          <p:nvPr/>
        </p:nvSpPr>
        <p:spPr>
          <a:xfrm>
            <a:off x="731520" y="365760"/>
            <a:ext cx="10058400" cy="640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400" b="1" i="0" u="none" strike="noStrike" cap="none">
                <a:solidFill>
                  <a:srgbClr val="FF9F1C"/>
                </a:solidFill>
                <a:latin typeface="Calibri"/>
                <a:ea typeface="Calibri"/>
                <a:cs typeface="Calibri"/>
                <a:sym typeface="Calibri"/>
              </a:rPr>
              <a:t>The Balance Pipeline: From Event to Paycheck</a:t>
            </a:r>
            <a:endParaRPr/>
          </a:p>
        </p:txBody>
      </p:sp>
      <p:sp>
        <p:nvSpPr>
          <p:cNvPr id="141" name="Google Shape;141;p4"/>
          <p:cNvSpPr/>
          <p:nvPr/>
        </p:nvSpPr>
        <p:spPr>
          <a:xfrm>
            <a:off x="731520" y="1051560"/>
            <a:ext cx="2286000" cy="36576"/>
          </a:xfrm>
          <a:prstGeom prst="rect">
            <a:avLst/>
          </a:prstGeom>
          <a:solidFill>
            <a:srgbClr val="FF9F1C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2" name="Google Shape;142;p4"/>
          <p:cNvSpPr txBox="1"/>
          <p:nvPr/>
        </p:nvSpPr>
        <p:spPr>
          <a:xfrm>
            <a:off x="731520" y="1280160"/>
            <a:ext cx="100584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i="0" u="none" strike="noStrike" cap="none">
                <a:solidFill>
                  <a:srgbClr val="B0B0C8"/>
                </a:solidFill>
                <a:latin typeface="Calibri"/>
                <a:ea typeface="Calibri"/>
                <a:cs typeface="Calibri"/>
                <a:sym typeface="Calibri"/>
              </a:rPr>
              <a:t>Each stage is an independent process with its own data — no service calls another</a:t>
            </a:r>
            <a:endParaRPr/>
          </a:p>
        </p:txBody>
      </p:sp>
      <p:sp>
        <p:nvSpPr>
          <p:cNvPr id="143" name="Google Shape;143;p4"/>
          <p:cNvSpPr/>
          <p:nvPr/>
        </p:nvSpPr>
        <p:spPr>
          <a:xfrm>
            <a:off x="274320" y="2286000"/>
            <a:ext cx="1920240" cy="914400"/>
          </a:xfrm>
          <a:prstGeom prst="roundRect">
            <a:avLst>
              <a:gd name="adj" fmla="val 16667"/>
            </a:avLst>
          </a:prstGeom>
          <a:solidFill>
            <a:srgbClr val="23233D"/>
          </a:solidFill>
          <a:ln w="19050" cap="flat" cmpd="sng">
            <a:solidFill>
              <a:srgbClr val="00B4D8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4" name="Google Shape;144;p4"/>
          <p:cNvSpPr txBox="1"/>
          <p:nvPr/>
        </p:nvSpPr>
        <p:spPr>
          <a:xfrm>
            <a:off x="365760" y="2359152"/>
            <a:ext cx="1737360" cy="4114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u="none" strike="noStrike" cap="none">
                <a:solidFill>
                  <a:srgbClr val="00B4D8"/>
                </a:solidFill>
                <a:latin typeface="Calibri"/>
                <a:ea typeface="Calibri"/>
                <a:cs typeface="Calibri"/>
                <a:sym typeface="Calibri"/>
              </a:rPr>
              <a:t>Domain Events</a:t>
            </a:r>
            <a:endParaRPr/>
          </a:p>
        </p:txBody>
      </p:sp>
      <p:sp>
        <p:nvSpPr>
          <p:cNvPr id="145" name="Google Shape;145;p4"/>
          <p:cNvSpPr txBox="1"/>
          <p:nvPr/>
        </p:nvSpPr>
        <p:spPr>
          <a:xfrm>
            <a:off x="365760" y="2743200"/>
            <a:ext cx="1737360" cy="4114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u="none" strike="noStrike" cap="none">
                <a:solidFill>
                  <a:srgbClr val="B0B0C8"/>
                </a:solidFill>
                <a:latin typeface="Calibri"/>
                <a:ea typeface="Calibri"/>
                <a:cs typeface="Calibri"/>
                <a:sym typeface="Calibri"/>
              </a:rPr>
              <a:t>Employee, TimeEntry,</a:t>
            </a:r>
            <a:br>
              <a:rPr lang="en-US" sz="1000" b="0" i="0" u="none" strike="noStrike" cap="none">
                <a:solidFill>
                  <a:srgbClr val="B0B0C8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000" b="0" i="0" u="none" strike="noStrike" cap="none">
                <a:solidFill>
                  <a:srgbClr val="B0B0C8"/>
                </a:solidFill>
                <a:latin typeface="Calibri"/>
                <a:ea typeface="Calibri"/>
                <a:cs typeface="Calibri"/>
                <a:sym typeface="Calibri"/>
              </a:rPr>
              <a:t>Tax, Deduction changes</a:t>
            </a:r>
            <a:endParaRPr/>
          </a:p>
        </p:txBody>
      </p:sp>
      <p:sp>
        <p:nvSpPr>
          <p:cNvPr id="146" name="Google Shape;146;p4"/>
          <p:cNvSpPr/>
          <p:nvPr/>
        </p:nvSpPr>
        <p:spPr>
          <a:xfrm>
            <a:off x="2377440" y="2286000"/>
            <a:ext cx="1920240" cy="914400"/>
          </a:xfrm>
          <a:prstGeom prst="roundRect">
            <a:avLst>
              <a:gd name="adj" fmla="val 16667"/>
            </a:avLst>
          </a:prstGeom>
          <a:solidFill>
            <a:srgbClr val="23233D"/>
          </a:solidFill>
          <a:ln w="19050" cap="flat" cmpd="sng">
            <a:solidFill>
              <a:srgbClr val="6C757D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7" name="Google Shape;147;p4"/>
          <p:cNvSpPr txBox="1"/>
          <p:nvPr/>
        </p:nvSpPr>
        <p:spPr>
          <a:xfrm>
            <a:off x="2468880" y="2359152"/>
            <a:ext cx="1737360" cy="4114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u="none" strike="noStrike" cap="none">
                <a:solidFill>
                  <a:srgbClr val="6C757D"/>
                </a:solidFill>
                <a:latin typeface="Calibri"/>
                <a:ea typeface="Calibri"/>
                <a:cs typeface="Calibri"/>
                <a:sym typeface="Calibri"/>
              </a:rPr>
              <a:t>Kafka</a:t>
            </a:r>
            <a:endParaRPr/>
          </a:p>
        </p:txBody>
      </p:sp>
      <p:sp>
        <p:nvSpPr>
          <p:cNvPr id="148" name="Google Shape;148;p4"/>
          <p:cNvSpPr txBox="1"/>
          <p:nvPr/>
        </p:nvSpPr>
        <p:spPr>
          <a:xfrm>
            <a:off x="2468880" y="2743200"/>
            <a:ext cx="1737360" cy="4114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u="none" strike="noStrike" cap="none">
                <a:solidFill>
                  <a:srgbClr val="B0B0C8"/>
                </a:solidFill>
                <a:latin typeface="Calibri"/>
                <a:ea typeface="Calibri"/>
                <a:cs typeface="Calibri"/>
                <a:sym typeface="Calibri"/>
              </a:rPr>
              <a:t>Durable event log</a:t>
            </a:r>
            <a:br>
              <a:rPr lang="en-US" sz="1000" b="0" i="0" u="none" strike="noStrike" cap="none">
                <a:solidFill>
                  <a:srgbClr val="B0B0C8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000" b="0" i="0" u="none" strike="noStrike" cap="none">
                <a:solidFill>
                  <a:srgbClr val="B0B0C8"/>
                </a:solidFill>
                <a:latin typeface="Calibri"/>
                <a:ea typeface="Calibri"/>
                <a:cs typeface="Calibri"/>
                <a:sym typeface="Calibri"/>
              </a:rPr>
              <a:t>(employee-events topic)</a:t>
            </a:r>
            <a:endParaRPr/>
          </a:p>
        </p:txBody>
      </p:sp>
      <p:sp>
        <p:nvSpPr>
          <p:cNvPr id="149" name="Google Shape;149;p4"/>
          <p:cNvSpPr/>
          <p:nvPr/>
        </p:nvSpPr>
        <p:spPr>
          <a:xfrm>
            <a:off x="4572000" y="2286000"/>
            <a:ext cx="1920240" cy="914400"/>
          </a:xfrm>
          <a:prstGeom prst="roundRect">
            <a:avLst>
              <a:gd name="adj" fmla="val 16667"/>
            </a:avLst>
          </a:prstGeom>
          <a:solidFill>
            <a:srgbClr val="23233D"/>
          </a:solidFill>
          <a:ln w="19050" cap="flat" cmpd="sng">
            <a:solidFill>
              <a:srgbClr val="06D6A0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0" name="Google Shape;150;p4"/>
          <p:cNvSpPr txBox="1"/>
          <p:nvPr/>
        </p:nvSpPr>
        <p:spPr>
          <a:xfrm>
            <a:off x="4663440" y="2359152"/>
            <a:ext cx="1737360" cy="4114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u="none" strike="noStrike" cap="none">
                <a:solidFill>
                  <a:srgbClr val="06D6A0"/>
                </a:solidFill>
                <a:latin typeface="Calibri"/>
                <a:ea typeface="Calibri"/>
                <a:cs typeface="Calibri"/>
                <a:sym typeface="Calibri"/>
              </a:rPr>
              <a:t>ksqlDB</a:t>
            </a:r>
            <a:br>
              <a:rPr lang="en-US" sz="1200" b="1" i="0" u="none" strike="noStrike" cap="none">
                <a:solidFill>
                  <a:srgbClr val="06D6A0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200" b="1" i="0" u="none" strike="noStrike" cap="none">
                <a:solidFill>
                  <a:srgbClr val="06D6A0"/>
                </a:solidFill>
                <a:latin typeface="Calibri"/>
                <a:ea typeface="Calibri"/>
                <a:cs typeface="Calibri"/>
                <a:sym typeface="Calibri"/>
              </a:rPr>
              <a:t>Stream Processing</a:t>
            </a:r>
            <a:endParaRPr/>
          </a:p>
        </p:txBody>
      </p:sp>
      <p:sp>
        <p:nvSpPr>
          <p:cNvPr id="151" name="Google Shape;151;p4"/>
          <p:cNvSpPr txBox="1"/>
          <p:nvPr/>
        </p:nvSpPr>
        <p:spPr>
          <a:xfrm>
            <a:off x="4663440" y="2743200"/>
            <a:ext cx="1737360" cy="4114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u="none" strike="noStrike" cap="none">
                <a:solidFill>
                  <a:srgbClr val="B0B0C8"/>
                </a:solidFill>
                <a:latin typeface="Calibri"/>
                <a:ea typeface="Calibri"/>
                <a:cs typeface="Calibri"/>
                <a:sym typeface="Calibri"/>
              </a:rPr>
              <a:t>Real-time aggregation</a:t>
            </a:r>
            <a:br>
              <a:rPr lang="en-US" sz="1000" b="0" i="0" u="none" strike="noStrike" cap="none">
                <a:solidFill>
                  <a:srgbClr val="B0B0C8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000" b="0" i="0" u="none" strike="noStrike" cap="none">
                <a:solidFill>
                  <a:srgbClr val="B0B0C8"/>
                </a:solidFill>
                <a:latin typeface="Calibri"/>
                <a:ea typeface="Calibri"/>
                <a:cs typeface="Calibri"/>
                <a:sym typeface="Calibri"/>
              </a:rPr>
              <a:t>Gross pay per period</a:t>
            </a:r>
            <a:endParaRPr/>
          </a:p>
        </p:txBody>
      </p:sp>
      <p:sp>
        <p:nvSpPr>
          <p:cNvPr id="152" name="Google Shape;152;p4"/>
          <p:cNvSpPr/>
          <p:nvPr/>
        </p:nvSpPr>
        <p:spPr>
          <a:xfrm>
            <a:off x="6720855" y="2278796"/>
            <a:ext cx="1920300" cy="914400"/>
          </a:xfrm>
          <a:prstGeom prst="roundRect">
            <a:avLst>
              <a:gd name="adj" fmla="val 16667"/>
            </a:avLst>
          </a:prstGeom>
          <a:solidFill>
            <a:srgbClr val="23233D"/>
          </a:solidFill>
          <a:ln w="19050" cap="flat" cmpd="sng">
            <a:solidFill>
              <a:srgbClr val="FF9F1C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3" name="Google Shape;153;p4"/>
          <p:cNvSpPr txBox="1"/>
          <p:nvPr/>
        </p:nvSpPr>
        <p:spPr>
          <a:xfrm>
            <a:off x="6812295" y="2351948"/>
            <a:ext cx="17373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u="none" strike="noStrike" cap="none">
                <a:solidFill>
                  <a:srgbClr val="FF9F1C"/>
                </a:solidFill>
                <a:latin typeface="Calibri"/>
                <a:ea typeface="Calibri"/>
                <a:cs typeface="Calibri"/>
                <a:sym typeface="Calibri"/>
              </a:rPr>
              <a:t>Net Pay Processor</a:t>
            </a:r>
            <a:br>
              <a:rPr lang="en-US" sz="1200" b="1" i="0" u="none" strike="noStrike" cap="none">
                <a:solidFill>
                  <a:srgbClr val="FF9F1C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200" b="1" i="0" u="none" strike="noStrike" cap="none">
                <a:solidFill>
                  <a:srgbClr val="FF9F1C"/>
                </a:solidFill>
                <a:latin typeface="Calibri"/>
                <a:ea typeface="Calibri"/>
                <a:cs typeface="Calibri"/>
                <a:sym typeface="Calibri"/>
              </a:rPr>
              <a:t>(Kafka Streams)</a:t>
            </a:r>
            <a:endParaRPr/>
          </a:p>
        </p:txBody>
      </p:sp>
      <p:sp>
        <p:nvSpPr>
          <p:cNvPr id="154" name="Google Shape;154;p4"/>
          <p:cNvSpPr txBox="1"/>
          <p:nvPr/>
        </p:nvSpPr>
        <p:spPr>
          <a:xfrm>
            <a:off x="6812295" y="2735996"/>
            <a:ext cx="17373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u="none" strike="noStrike" cap="none">
                <a:solidFill>
                  <a:srgbClr val="B0B0C8"/>
                </a:solidFill>
                <a:latin typeface="Calibri"/>
                <a:ea typeface="Calibri"/>
                <a:cs typeface="Calibri"/>
                <a:sym typeface="Calibri"/>
              </a:rPr>
              <a:t>Taxes + deductions</a:t>
            </a:r>
            <a:br>
              <a:rPr lang="en-US" sz="1000" b="0" i="0" u="none" strike="noStrike" cap="none">
                <a:solidFill>
                  <a:srgbClr val="B0B0C8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000" b="0" i="0" u="none" strike="noStrike" cap="none">
                <a:solidFill>
                  <a:srgbClr val="B0B0C8"/>
                </a:solidFill>
                <a:latin typeface="Calibri"/>
                <a:ea typeface="Calibri"/>
                <a:cs typeface="Calibri"/>
                <a:sym typeface="Calibri"/>
              </a:rPr>
              <a:t>applied per period</a:t>
            </a:r>
            <a:endParaRPr/>
          </a:p>
        </p:txBody>
      </p:sp>
      <p:sp>
        <p:nvSpPr>
          <p:cNvPr id="155" name="Google Shape;155;p4"/>
          <p:cNvSpPr/>
          <p:nvPr/>
        </p:nvSpPr>
        <p:spPr>
          <a:xfrm>
            <a:off x="8902377" y="2286000"/>
            <a:ext cx="1920300" cy="914400"/>
          </a:xfrm>
          <a:prstGeom prst="roundRect">
            <a:avLst>
              <a:gd name="adj" fmla="val 16667"/>
            </a:avLst>
          </a:prstGeom>
          <a:solidFill>
            <a:srgbClr val="23233D"/>
          </a:solidFill>
          <a:ln w="19050" cap="flat" cmpd="sng">
            <a:solidFill>
              <a:srgbClr val="48CAE4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6" name="Google Shape;156;p4"/>
          <p:cNvSpPr txBox="1"/>
          <p:nvPr/>
        </p:nvSpPr>
        <p:spPr>
          <a:xfrm>
            <a:off x="8993817" y="2359152"/>
            <a:ext cx="1737300" cy="27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u="none" strike="noStrike" cap="none">
                <a:solidFill>
                  <a:srgbClr val="48CAE4"/>
                </a:solidFill>
                <a:latin typeface="Calibri"/>
                <a:ea typeface="Calibri"/>
                <a:cs typeface="Calibri"/>
                <a:sym typeface="Calibri"/>
              </a:rPr>
              <a:t>Consumers</a:t>
            </a:r>
            <a:endParaRPr/>
          </a:p>
        </p:txBody>
      </p:sp>
      <p:sp>
        <p:nvSpPr>
          <p:cNvPr id="157" name="Google Shape;157;p4"/>
          <p:cNvSpPr txBox="1"/>
          <p:nvPr/>
        </p:nvSpPr>
        <p:spPr>
          <a:xfrm>
            <a:off x="8993817" y="2743200"/>
            <a:ext cx="17373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u="none" strike="noStrike" cap="none">
                <a:solidFill>
                  <a:srgbClr val="B0B0C8"/>
                </a:solidFill>
                <a:latin typeface="Calibri"/>
                <a:ea typeface="Calibri"/>
                <a:cs typeface="Calibri"/>
                <a:sym typeface="Calibri"/>
              </a:rPr>
              <a:t>GraphQL subscriptions</a:t>
            </a:r>
            <a:br>
              <a:rPr lang="en-US" sz="1000" b="0" i="0" u="none" strike="noStrike" cap="none">
                <a:solidFill>
                  <a:srgbClr val="B0B0C8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000" b="0" i="0" u="none" strike="noStrike" cap="none">
                <a:solidFill>
                  <a:srgbClr val="B0B0C8"/>
                </a:solidFill>
                <a:latin typeface="Calibri"/>
                <a:ea typeface="Calibri"/>
                <a:cs typeface="Calibri"/>
                <a:sym typeface="Calibri"/>
              </a:rPr>
              <a:t>Elasticsearch index</a:t>
            </a:r>
            <a:endParaRPr/>
          </a:p>
        </p:txBody>
      </p:sp>
      <p:sp>
        <p:nvSpPr>
          <p:cNvPr id="158" name="Google Shape;158;p4"/>
          <p:cNvSpPr/>
          <p:nvPr/>
        </p:nvSpPr>
        <p:spPr>
          <a:xfrm>
            <a:off x="2194560" y="2633472"/>
            <a:ext cx="228600" cy="219456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00B4D8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9" name="Google Shape;159;p4"/>
          <p:cNvSpPr/>
          <p:nvPr/>
        </p:nvSpPr>
        <p:spPr>
          <a:xfrm>
            <a:off x="4389120" y="2633472"/>
            <a:ext cx="228600" cy="219456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00B4D8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0" name="Google Shape;160;p4"/>
          <p:cNvSpPr/>
          <p:nvPr/>
        </p:nvSpPr>
        <p:spPr>
          <a:xfrm>
            <a:off x="6492250" y="2633472"/>
            <a:ext cx="228600" cy="2196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00B4D8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1" name="Google Shape;161;p4"/>
          <p:cNvSpPr/>
          <p:nvPr/>
        </p:nvSpPr>
        <p:spPr>
          <a:xfrm>
            <a:off x="8658093" y="2626272"/>
            <a:ext cx="228600" cy="2196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00B4D8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2" name="Google Shape;162;p4"/>
          <p:cNvSpPr txBox="1"/>
          <p:nvPr/>
        </p:nvSpPr>
        <p:spPr>
          <a:xfrm>
            <a:off x="731520" y="3840480"/>
            <a:ext cx="100584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i="0" u="none" strike="noStrike" cap="none">
                <a:solidFill>
                  <a:srgbClr val="FF9F1C"/>
                </a:solidFill>
                <a:latin typeface="Calibri"/>
                <a:ea typeface="Calibri"/>
                <a:cs typeface="Calibri"/>
                <a:sym typeface="Calibri"/>
              </a:rPr>
              <a:t>Why This Matters for Teams</a:t>
            </a:r>
            <a:endParaRPr/>
          </a:p>
        </p:txBody>
      </p:sp>
      <p:sp>
        <p:nvSpPr>
          <p:cNvPr id="163" name="Google Shape;163;p4"/>
          <p:cNvSpPr txBox="1"/>
          <p:nvPr/>
        </p:nvSpPr>
        <p:spPr>
          <a:xfrm>
            <a:off x="1097280" y="4297680"/>
            <a:ext cx="18288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 i="0" u="none" strike="noStrike" cap="none">
                <a:solidFill>
                  <a:srgbClr val="FF9F1C"/>
                </a:solidFill>
                <a:latin typeface="Calibri"/>
                <a:ea typeface="Calibri"/>
                <a:cs typeface="Calibri"/>
                <a:sym typeface="Calibri"/>
              </a:rPr>
              <a:t>Self-healing</a:t>
            </a:r>
            <a:endParaRPr/>
          </a:p>
        </p:txBody>
      </p:sp>
      <p:sp>
        <p:nvSpPr>
          <p:cNvPr id="164" name="Google Shape;164;p4"/>
          <p:cNvSpPr txBox="1"/>
          <p:nvPr/>
        </p:nvSpPr>
        <p:spPr>
          <a:xfrm>
            <a:off x="3017520" y="4297680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0" i="0" u="none" strike="noStrike" cap="none">
                <a:solidFill>
                  <a:srgbClr val="B0B0C8"/>
                </a:solidFill>
                <a:latin typeface="Calibri"/>
                <a:ea typeface="Calibri"/>
                <a:cs typeface="Calibri"/>
                <a:sym typeface="Calibri"/>
              </a:rPr>
              <a:t>If the Net Pay Processor restarts, it rebuilds from Kafka. No data loss, no manual recovery.</a:t>
            </a:r>
            <a:endParaRPr/>
          </a:p>
        </p:txBody>
      </p:sp>
      <p:sp>
        <p:nvSpPr>
          <p:cNvPr id="165" name="Google Shape;165;p4"/>
          <p:cNvSpPr txBox="1"/>
          <p:nvPr/>
        </p:nvSpPr>
        <p:spPr>
          <a:xfrm>
            <a:off x="1097280" y="4709160"/>
            <a:ext cx="18288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 i="0" u="none" strike="noStrike" cap="none">
                <a:solidFill>
                  <a:srgbClr val="FF9F1C"/>
                </a:solidFill>
                <a:latin typeface="Calibri"/>
                <a:ea typeface="Calibri"/>
                <a:cs typeface="Calibri"/>
                <a:sym typeface="Calibri"/>
              </a:rPr>
              <a:t>Edit-safe aggregation</a:t>
            </a:r>
            <a:endParaRPr/>
          </a:p>
        </p:txBody>
      </p:sp>
      <p:sp>
        <p:nvSpPr>
          <p:cNvPr id="166" name="Google Shape;166;p4"/>
          <p:cNvSpPr txBox="1"/>
          <p:nvPr/>
        </p:nvSpPr>
        <p:spPr>
          <a:xfrm>
            <a:off x="3017520" y="4709160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0" i="0" u="none" strike="noStrike" cap="none">
                <a:solidFill>
                  <a:srgbClr val="B0B0C8"/>
                </a:solidFill>
                <a:latin typeface="Calibri"/>
                <a:ea typeface="Calibri"/>
                <a:cs typeface="Calibri"/>
                <a:sym typeface="Calibri"/>
              </a:rPr>
              <a:t>Time entry corrections are automatically deduplicated — no double-counting, no reconciliation scripts.</a:t>
            </a:r>
            <a:endParaRPr/>
          </a:p>
        </p:txBody>
      </p:sp>
      <p:sp>
        <p:nvSpPr>
          <p:cNvPr id="167" name="Google Shape;167;p4"/>
          <p:cNvSpPr txBox="1"/>
          <p:nvPr/>
        </p:nvSpPr>
        <p:spPr>
          <a:xfrm>
            <a:off x="1097280" y="5120640"/>
            <a:ext cx="18288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 i="0" u="none" strike="noStrike" cap="none">
                <a:solidFill>
                  <a:srgbClr val="FF9F1C"/>
                </a:solidFill>
                <a:latin typeface="Calibri"/>
                <a:ea typeface="Calibri"/>
                <a:cs typeface="Calibri"/>
                <a:sym typeface="Calibri"/>
              </a:rPr>
              <a:t>Independently scalable</a:t>
            </a:r>
            <a:endParaRPr/>
          </a:p>
        </p:txBody>
      </p:sp>
      <p:sp>
        <p:nvSpPr>
          <p:cNvPr id="168" name="Google Shape;168;p4"/>
          <p:cNvSpPr txBox="1"/>
          <p:nvPr/>
        </p:nvSpPr>
        <p:spPr>
          <a:xfrm>
            <a:off x="3017520" y="5120640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0" i="0" u="none" strike="noStrike" cap="none">
                <a:solidFill>
                  <a:srgbClr val="B0B0C8"/>
                </a:solidFill>
                <a:latin typeface="Calibri"/>
                <a:ea typeface="Calibri"/>
                <a:cs typeface="Calibri"/>
                <a:sym typeface="Calibri"/>
              </a:rPr>
              <a:t>Each stage scales on its own. A spike in time entries doesn't slow down pay calculations.</a:t>
            </a:r>
            <a:endParaRPr/>
          </a:p>
        </p:txBody>
      </p:sp>
      <p:sp>
        <p:nvSpPr>
          <p:cNvPr id="169" name="Google Shape;169;p4"/>
          <p:cNvSpPr txBox="1"/>
          <p:nvPr/>
        </p:nvSpPr>
        <p:spPr>
          <a:xfrm>
            <a:off x="1097280" y="5532120"/>
            <a:ext cx="18288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 i="0" u="none" strike="noStrike" cap="none">
                <a:solidFill>
                  <a:srgbClr val="FF9F1C"/>
                </a:solidFill>
                <a:latin typeface="Calibri"/>
                <a:ea typeface="Calibri"/>
                <a:cs typeface="Calibri"/>
                <a:sym typeface="Calibri"/>
              </a:rPr>
              <a:t>Replay from any point</a:t>
            </a:r>
            <a:endParaRPr/>
          </a:p>
        </p:txBody>
      </p:sp>
      <p:sp>
        <p:nvSpPr>
          <p:cNvPr id="170" name="Google Shape;170;p4"/>
          <p:cNvSpPr txBox="1"/>
          <p:nvPr/>
        </p:nvSpPr>
        <p:spPr>
          <a:xfrm>
            <a:off x="3017520" y="5532120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0" i="0" u="none" strike="noStrike" cap="none">
                <a:solidFill>
                  <a:srgbClr val="B0B0C8"/>
                </a:solidFill>
                <a:latin typeface="Calibri"/>
                <a:ea typeface="Calibri"/>
                <a:cs typeface="Calibri"/>
                <a:sym typeface="Calibri"/>
              </a:rPr>
              <a:t>Kafka retains the event log. Rebuild any downstream view by replaying events.</a:t>
            </a:r>
            <a:endParaRPr/>
          </a:p>
        </p:txBody>
      </p:sp>
      <p:sp>
        <p:nvSpPr>
          <p:cNvPr id="171" name="Google Shape;171;p4"/>
          <p:cNvSpPr txBox="1"/>
          <p:nvPr/>
        </p:nvSpPr>
        <p:spPr>
          <a:xfrm>
            <a:off x="731520" y="5943600"/>
            <a:ext cx="100584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 i="0" u="none" strike="noStrike" cap="none">
                <a:solidFill>
                  <a:srgbClr val="B0B0C8"/>
                </a:solidFill>
                <a:latin typeface="Calibri"/>
                <a:ea typeface="Calibri"/>
                <a:cs typeface="Calibri"/>
                <a:sym typeface="Calibri"/>
              </a:rPr>
              <a:t>Full pipeline details to follow in walkthrough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1B2F"/>
        </a:solidFill>
        <a:effectLst/>
      </p:bgPr>
    </p:bg>
    <p:spTree>
      <p:nvGrpSpPr>
        <p:cNvPr id="1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5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B4D8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7" name="Google Shape;177;p5"/>
          <p:cNvSpPr txBox="1"/>
          <p:nvPr/>
        </p:nvSpPr>
        <p:spPr>
          <a:xfrm>
            <a:off x="731520" y="365760"/>
            <a:ext cx="10058400" cy="640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400" b="1" i="0" u="none" strike="noStrike" cap="none">
                <a:solidFill>
                  <a:srgbClr val="00B4D8"/>
                </a:solidFill>
                <a:latin typeface="Calibri"/>
                <a:ea typeface="Calibri"/>
                <a:cs typeface="Calibri"/>
                <a:sym typeface="Calibri"/>
              </a:rPr>
              <a:t>What Dapr Gives Us</a:t>
            </a:r>
            <a:endParaRPr/>
          </a:p>
        </p:txBody>
      </p:sp>
      <p:sp>
        <p:nvSpPr>
          <p:cNvPr id="178" name="Google Shape;178;p5"/>
          <p:cNvSpPr/>
          <p:nvPr/>
        </p:nvSpPr>
        <p:spPr>
          <a:xfrm>
            <a:off x="731520" y="1051560"/>
            <a:ext cx="2286000" cy="36576"/>
          </a:xfrm>
          <a:prstGeom prst="rect">
            <a:avLst/>
          </a:prstGeom>
          <a:solidFill>
            <a:srgbClr val="00B4D8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9" name="Google Shape;179;p5"/>
          <p:cNvSpPr txBox="1"/>
          <p:nvPr/>
        </p:nvSpPr>
        <p:spPr>
          <a:xfrm>
            <a:off x="731520" y="1463040"/>
            <a:ext cx="50292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00" b="1" i="0" u="none" strike="noStrike" cap="none">
                <a:solidFill>
                  <a:srgbClr val="48CAE4"/>
                </a:solidFill>
                <a:latin typeface="Calibri"/>
                <a:ea typeface="Calibri"/>
                <a:cs typeface="Calibri"/>
                <a:sym typeface="Calibri"/>
              </a:rPr>
              <a:t>Transactional Outbox (Built-in)</a:t>
            </a:r>
            <a:endParaRPr/>
          </a:p>
        </p:txBody>
      </p:sp>
      <p:sp>
        <p:nvSpPr>
          <p:cNvPr id="180" name="Google Shape;180;p5"/>
          <p:cNvSpPr txBox="1"/>
          <p:nvPr/>
        </p:nvSpPr>
        <p:spPr>
          <a:xfrm>
            <a:off x="731520" y="1828800"/>
            <a:ext cx="5029200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0" i="0" u="none" strike="noStrike" cap="none">
                <a:solidFill>
                  <a:srgbClr val="B0B0C8"/>
                </a:solidFill>
                <a:latin typeface="Calibri"/>
                <a:ea typeface="Calibri"/>
                <a:cs typeface="Calibri"/>
                <a:sym typeface="Calibri"/>
              </a:rPr>
              <a:t>Entity + event saved atomically in one call.</a:t>
            </a:r>
            <a:br>
              <a:rPr lang="en-US" sz="1300" b="0" i="0" u="none" strike="noStrike" cap="none">
                <a:solidFill>
                  <a:srgbClr val="B0B0C8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300" b="0" i="0" u="none" strike="noStrike" cap="none">
                <a:solidFill>
                  <a:srgbClr val="B0B0C8"/>
                </a:solidFill>
                <a:latin typeface="Calibri"/>
                <a:ea typeface="Calibri"/>
                <a:cs typeface="Calibri"/>
                <a:sym typeface="Calibri"/>
              </a:rPr>
              <a:t>Dapr handles the outbox relay to Kafka.</a:t>
            </a:r>
            <a:br>
              <a:rPr lang="en-US" sz="1300" b="0" i="0" u="none" strike="noStrike" cap="none">
                <a:solidFill>
                  <a:srgbClr val="B0B0C8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300" b="0" i="0" u="none" strike="noStrike" cap="none">
                <a:solidFill>
                  <a:srgbClr val="B0B0C8"/>
                </a:solidFill>
                <a:latin typeface="Calibri"/>
                <a:ea typeface="Calibri"/>
                <a:cs typeface="Calibri"/>
                <a:sym typeface="Calibri"/>
              </a:rPr>
              <a:t>Zero custom outbox infrastructure to build or maintain.</a:t>
            </a:r>
            <a:endParaRPr/>
          </a:p>
        </p:txBody>
      </p:sp>
      <p:sp>
        <p:nvSpPr>
          <p:cNvPr id="181" name="Google Shape;181;p5"/>
          <p:cNvSpPr txBox="1"/>
          <p:nvPr/>
        </p:nvSpPr>
        <p:spPr>
          <a:xfrm>
            <a:off x="731520" y="2926080"/>
            <a:ext cx="50292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00" b="1" i="0" u="none" strike="noStrike" cap="none">
                <a:solidFill>
                  <a:srgbClr val="48CAE4"/>
                </a:solidFill>
                <a:latin typeface="Calibri"/>
                <a:ea typeface="Calibri"/>
                <a:cs typeface="Calibri"/>
                <a:sym typeface="Calibri"/>
              </a:rPr>
              <a:t>Infrastructure Abstraction</a:t>
            </a:r>
            <a:endParaRPr/>
          </a:p>
        </p:txBody>
      </p:sp>
      <p:sp>
        <p:nvSpPr>
          <p:cNvPr id="182" name="Google Shape;182;p5"/>
          <p:cNvSpPr txBox="1"/>
          <p:nvPr/>
        </p:nvSpPr>
        <p:spPr>
          <a:xfrm>
            <a:off x="731520" y="3291840"/>
            <a:ext cx="5029200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0" i="0" u="none" strike="noStrike" cap="none">
                <a:solidFill>
                  <a:srgbClr val="B0B0C8"/>
                </a:solidFill>
                <a:latin typeface="Calibri"/>
                <a:ea typeface="Calibri"/>
                <a:cs typeface="Calibri"/>
                <a:sym typeface="Calibri"/>
              </a:rPr>
              <a:t>Your code calls Dapr APIs, not Kafka/Mongo APIs directly.</a:t>
            </a:r>
            <a:br>
              <a:rPr lang="en-US" sz="1300" b="0" i="0" u="none" strike="noStrike" cap="none">
                <a:solidFill>
                  <a:srgbClr val="B0B0C8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300" b="0" i="0" u="none" strike="noStrike" cap="none">
                <a:solidFill>
                  <a:srgbClr val="B0B0C8"/>
                </a:solidFill>
                <a:latin typeface="Calibri"/>
                <a:ea typeface="Calibri"/>
                <a:cs typeface="Calibri"/>
                <a:sym typeface="Calibri"/>
              </a:rPr>
              <a:t>Swap Kafka for RabbitMQ, or MongoDB for Postgres,</a:t>
            </a:r>
            <a:br>
              <a:rPr lang="en-US" sz="1300" b="0" i="0" u="none" strike="noStrike" cap="none">
                <a:solidFill>
                  <a:srgbClr val="B0B0C8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300" b="0" i="0" u="none" strike="noStrike" cap="none">
                <a:solidFill>
                  <a:srgbClr val="B0B0C8"/>
                </a:solidFill>
                <a:latin typeface="Calibri"/>
                <a:ea typeface="Calibri"/>
                <a:cs typeface="Calibri"/>
                <a:sym typeface="Calibri"/>
              </a:rPr>
              <a:t>by changing a YAML file — no code changes.</a:t>
            </a:r>
            <a:endParaRPr/>
          </a:p>
        </p:txBody>
      </p:sp>
      <p:sp>
        <p:nvSpPr>
          <p:cNvPr id="183" name="Google Shape;183;p5"/>
          <p:cNvSpPr txBox="1"/>
          <p:nvPr/>
        </p:nvSpPr>
        <p:spPr>
          <a:xfrm>
            <a:off x="731520" y="4389120"/>
            <a:ext cx="50292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00" b="1" i="0" u="none" strike="noStrike" cap="none">
                <a:solidFill>
                  <a:srgbClr val="48CAE4"/>
                </a:solidFill>
                <a:latin typeface="Calibri"/>
                <a:ea typeface="Calibri"/>
                <a:cs typeface="Calibri"/>
                <a:sym typeface="Calibri"/>
              </a:rPr>
              <a:t>Sidecar Pattern</a:t>
            </a:r>
            <a:endParaRPr/>
          </a:p>
        </p:txBody>
      </p:sp>
      <p:sp>
        <p:nvSpPr>
          <p:cNvPr id="184" name="Google Shape;184;p5"/>
          <p:cNvSpPr txBox="1"/>
          <p:nvPr/>
        </p:nvSpPr>
        <p:spPr>
          <a:xfrm>
            <a:off x="731520" y="4754880"/>
            <a:ext cx="5029200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0" i="0" u="none" strike="noStrike" cap="none">
                <a:solidFill>
                  <a:srgbClr val="B0B0C8"/>
                </a:solidFill>
                <a:latin typeface="Calibri"/>
                <a:ea typeface="Calibri"/>
                <a:cs typeface="Calibri"/>
                <a:sym typeface="Calibri"/>
              </a:rPr>
              <a:t>Dapr runs alongside your app, not inside it.</a:t>
            </a:r>
            <a:br>
              <a:rPr lang="en-US" sz="1300" b="0" i="0" u="none" strike="noStrike" cap="none">
                <a:solidFill>
                  <a:srgbClr val="B0B0C8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300" b="0" i="0" u="none" strike="noStrike" cap="none">
                <a:solidFill>
                  <a:srgbClr val="B0B0C8"/>
                </a:solidFill>
                <a:latin typeface="Calibri"/>
                <a:ea typeface="Calibri"/>
                <a:cs typeface="Calibri"/>
                <a:sym typeface="Calibri"/>
              </a:rPr>
              <a:t>Any language can use it — .NET, Java, Python, Go.</a:t>
            </a:r>
            <a:br>
              <a:rPr lang="en-US" sz="1300" b="0" i="0" u="none" strike="noStrike" cap="none">
                <a:solidFill>
                  <a:srgbClr val="B0B0C8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300" b="0" i="0" u="none" strike="noStrike" cap="none">
                <a:solidFill>
                  <a:srgbClr val="B0B0C8"/>
                </a:solidFill>
                <a:latin typeface="Calibri"/>
                <a:ea typeface="Calibri"/>
                <a:cs typeface="Calibri"/>
                <a:sym typeface="Calibri"/>
              </a:rPr>
              <a:t>Teams pick the stack that fits their service.</a:t>
            </a:r>
            <a:endParaRPr/>
          </a:p>
        </p:txBody>
      </p:sp>
      <p:sp>
        <p:nvSpPr>
          <p:cNvPr id="185" name="Google Shape;185;p5"/>
          <p:cNvSpPr txBox="1"/>
          <p:nvPr/>
        </p:nvSpPr>
        <p:spPr>
          <a:xfrm>
            <a:off x="6400800" y="1463040"/>
            <a:ext cx="50292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00" b="1" i="0" u="none" strike="noStrike" cap="none">
                <a:solidFill>
                  <a:srgbClr val="48CAE4"/>
                </a:solidFill>
                <a:latin typeface="Calibri"/>
                <a:ea typeface="Calibri"/>
                <a:cs typeface="Calibri"/>
                <a:sym typeface="Calibri"/>
              </a:rPr>
              <a:t>Reduced Onboarding Friction</a:t>
            </a:r>
            <a:endParaRPr/>
          </a:p>
        </p:txBody>
      </p:sp>
      <p:sp>
        <p:nvSpPr>
          <p:cNvPr id="186" name="Google Shape;186;p5"/>
          <p:cNvSpPr txBox="1"/>
          <p:nvPr/>
        </p:nvSpPr>
        <p:spPr>
          <a:xfrm>
            <a:off x="6400800" y="1828800"/>
            <a:ext cx="5029200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0" i="0" u="none" strike="noStrike" cap="none">
                <a:solidFill>
                  <a:srgbClr val="B0B0C8"/>
                </a:solidFill>
                <a:latin typeface="Calibri"/>
                <a:ea typeface="Calibri"/>
                <a:cs typeface="Calibri"/>
                <a:sym typeface="Calibri"/>
              </a:rPr>
              <a:t>New team members learn one API surface (Dapr)</a:t>
            </a:r>
            <a:br>
              <a:rPr lang="en-US" sz="1300" b="0" i="0" u="none" strike="noStrike" cap="none">
                <a:solidFill>
                  <a:srgbClr val="B0B0C8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300" b="0" i="0" u="none" strike="noStrike" cap="none">
                <a:solidFill>
                  <a:srgbClr val="B0B0C8"/>
                </a:solidFill>
                <a:latin typeface="Calibri"/>
                <a:ea typeface="Calibri"/>
                <a:cs typeface="Calibri"/>
                <a:sym typeface="Calibri"/>
              </a:rPr>
              <a:t>instead of Kafka clients, MongoDB drivers,</a:t>
            </a:r>
            <a:br>
              <a:rPr lang="en-US" sz="1300" b="0" i="0" u="none" strike="noStrike" cap="none">
                <a:solidFill>
                  <a:srgbClr val="B0B0C8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300" b="0" i="0" u="none" strike="noStrike" cap="none">
                <a:solidFill>
                  <a:srgbClr val="B0B0C8"/>
                </a:solidFill>
                <a:latin typeface="Calibri"/>
                <a:ea typeface="Calibri"/>
                <a:cs typeface="Calibri"/>
                <a:sym typeface="Calibri"/>
              </a:rPr>
              <a:t>distributed transaction patterns, etc.</a:t>
            </a:r>
            <a:endParaRPr/>
          </a:p>
        </p:txBody>
      </p:sp>
      <p:sp>
        <p:nvSpPr>
          <p:cNvPr id="187" name="Google Shape;187;p5"/>
          <p:cNvSpPr txBox="1"/>
          <p:nvPr/>
        </p:nvSpPr>
        <p:spPr>
          <a:xfrm>
            <a:off x="6400800" y="2926080"/>
            <a:ext cx="50292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00" b="1" i="0" u="none" strike="noStrike" cap="none" dirty="0">
                <a:solidFill>
                  <a:srgbClr val="48CAE4"/>
                </a:solidFill>
                <a:latin typeface="Calibri"/>
                <a:ea typeface="Calibri"/>
                <a:cs typeface="Calibri"/>
                <a:sym typeface="Calibri"/>
              </a:rPr>
              <a:t>Observability for Free</a:t>
            </a:r>
            <a:endParaRPr dirty="0"/>
          </a:p>
        </p:txBody>
      </p:sp>
      <p:sp>
        <p:nvSpPr>
          <p:cNvPr id="188" name="Google Shape;188;p5"/>
          <p:cNvSpPr txBox="1"/>
          <p:nvPr/>
        </p:nvSpPr>
        <p:spPr>
          <a:xfrm>
            <a:off x="6400800" y="3291840"/>
            <a:ext cx="5029200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0" i="0" u="none" strike="noStrike" cap="none" dirty="0">
                <a:solidFill>
                  <a:srgbClr val="B0B0C8"/>
                </a:solidFill>
                <a:latin typeface="Calibri"/>
                <a:ea typeface="Calibri"/>
                <a:cs typeface="Calibri"/>
                <a:sym typeface="Calibri"/>
              </a:rPr>
              <a:t>Distributed tracing (Zipkin), metrics, and logging</a:t>
            </a:r>
            <a:br>
              <a:rPr lang="en-US" sz="1300" b="0" i="0" u="none" strike="noStrike" cap="none" dirty="0">
                <a:solidFill>
                  <a:srgbClr val="B0B0C8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300" b="0" i="0" u="none" strike="noStrike" cap="none" dirty="0">
                <a:solidFill>
                  <a:srgbClr val="B0B0C8"/>
                </a:solidFill>
                <a:latin typeface="Calibri"/>
                <a:ea typeface="Calibri"/>
                <a:cs typeface="Calibri"/>
                <a:sym typeface="Calibri"/>
              </a:rPr>
              <a:t>are built into the sidecar. No instrumentation code.</a:t>
            </a:r>
            <a:endParaRPr dirty="0"/>
          </a:p>
        </p:txBody>
      </p:sp>
      <p:sp>
        <p:nvSpPr>
          <p:cNvPr id="189" name="Google Shape;189;p5"/>
          <p:cNvSpPr txBox="1"/>
          <p:nvPr/>
        </p:nvSpPr>
        <p:spPr>
          <a:xfrm>
            <a:off x="6400800" y="4389120"/>
            <a:ext cx="50292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00" b="1" i="0" u="none" strike="noStrike" cap="none">
                <a:solidFill>
                  <a:srgbClr val="48CAE4"/>
                </a:solidFill>
                <a:latin typeface="Calibri"/>
                <a:ea typeface="Calibri"/>
                <a:cs typeface="Calibri"/>
                <a:sym typeface="Calibri"/>
              </a:rPr>
              <a:t>Resilience by Default</a:t>
            </a:r>
            <a:endParaRPr/>
          </a:p>
        </p:txBody>
      </p:sp>
      <p:sp>
        <p:nvSpPr>
          <p:cNvPr id="190" name="Google Shape;190;p5"/>
          <p:cNvSpPr txBox="1"/>
          <p:nvPr/>
        </p:nvSpPr>
        <p:spPr>
          <a:xfrm>
            <a:off x="6400800" y="4754880"/>
            <a:ext cx="5029200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0" i="0" u="none" strike="noStrike" cap="none">
                <a:solidFill>
                  <a:srgbClr val="B0B0C8"/>
                </a:solidFill>
                <a:latin typeface="Calibri"/>
                <a:ea typeface="Calibri"/>
                <a:cs typeface="Calibri"/>
                <a:sym typeface="Calibri"/>
              </a:rPr>
              <a:t>Retries, circuit breakers, and timeout policies</a:t>
            </a:r>
            <a:br>
              <a:rPr lang="en-US" sz="1300" b="0" i="0" u="none" strike="noStrike" cap="none">
                <a:solidFill>
                  <a:srgbClr val="B0B0C8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300" b="0" i="0" u="none" strike="noStrike" cap="none">
                <a:solidFill>
                  <a:srgbClr val="B0B0C8"/>
                </a:solidFill>
                <a:latin typeface="Calibri"/>
                <a:ea typeface="Calibri"/>
                <a:cs typeface="Calibri"/>
                <a:sym typeface="Calibri"/>
              </a:rPr>
              <a:t>configured in YAML. Consistent across all services</a:t>
            </a:r>
            <a:br>
              <a:rPr lang="en-US" sz="1300" b="0" i="0" u="none" strike="noStrike" cap="none">
                <a:solidFill>
                  <a:srgbClr val="B0B0C8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300" b="0" i="0" u="none" strike="noStrike" cap="none">
                <a:solidFill>
                  <a:srgbClr val="B0B0C8"/>
                </a:solidFill>
                <a:latin typeface="Calibri"/>
                <a:ea typeface="Calibri"/>
                <a:cs typeface="Calibri"/>
                <a:sym typeface="Calibri"/>
              </a:rPr>
              <a:t>without each team implementing their own.</a:t>
            </a:r>
            <a:endParaRPr/>
          </a:p>
        </p:txBody>
      </p:sp>
      <p:sp>
        <p:nvSpPr>
          <p:cNvPr id="191" name="Google Shape;191;p5"/>
          <p:cNvSpPr/>
          <p:nvPr/>
        </p:nvSpPr>
        <p:spPr>
          <a:xfrm>
            <a:off x="5943600" y="1463040"/>
            <a:ext cx="27432" cy="4572000"/>
          </a:xfrm>
          <a:prstGeom prst="rect">
            <a:avLst/>
          </a:prstGeom>
          <a:solidFill>
            <a:srgbClr val="00B4D8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1B2F"/>
        </a:solidFill>
        <a:effectLst/>
      </p:bgPr>
    </p:bg>
    <p:spTree>
      <p:nvGrpSpPr>
        <p:cNvPr id="1" name="Shape 175">
          <a:extLst>
            <a:ext uri="{FF2B5EF4-FFF2-40B4-BE49-F238E27FC236}">
              <a16:creationId xmlns:a16="http://schemas.microsoft.com/office/drawing/2014/main" id="{BF072B56-613C-2726-D4E4-4DB1599D48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>
            <a:extLst>
              <a:ext uri="{FF2B5EF4-FFF2-40B4-BE49-F238E27FC236}">
                <a16:creationId xmlns:a16="http://schemas.microsoft.com/office/drawing/2014/main" id="{920DE8B4-1AF1-9687-E741-CAD5178EE29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0500" y="114300"/>
            <a:ext cx="11811000" cy="6629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9158435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1B2F"/>
        </a:solidFill>
        <a:effectLst/>
      </p:bgPr>
    </p:bg>
    <p:spTree>
      <p:nvGrpSpPr>
        <p:cNvPr id="1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6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6D6A0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7" name="Google Shape;197;p6"/>
          <p:cNvSpPr txBox="1"/>
          <p:nvPr/>
        </p:nvSpPr>
        <p:spPr>
          <a:xfrm>
            <a:off x="731520" y="365760"/>
            <a:ext cx="10058400" cy="640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400" b="1" i="0" u="none" strike="noStrike" cap="none">
                <a:solidFill>
                  <a:srgbClr val="06D6A0"/>
                </a:solidFill>
                <a:latin typeface="Calibri"/>
                <a:ea typeface="Calibri"/>
                <a:cs typeface="Calibri"/>
                <a:sym typeface="Calibri"/>
              </a:rPr>
              <a:t>Testability: Confidence Without End-to-End Fragility</a:t>
            </a:r>
            <a:endParaRPr/>
          </a:p>
        </p:txBody>
      </p:sp>
      <p:sp>
        <p:nvSpPr>
          <p:cNvPr id="198" name="Google Shape;198;p6"/>
          <p:cNvSpPr/>
          <p:nvPr/>
        </p:nvSpPr>
        <p:spPr>
          <a:xfrm>
            <a:off x="731520" y="1051560"/>
            <a:ext cx="2286000" cy="36576"/>
          </a:xfrm>
          <a:prstGeom prst="rect">
            <a:avLst/>
          </a:prstGeom>
          <a:solidFill>
            <a:srgbClr val="06D6A0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9" name="Google Shape;199;p6"/>
          <p:cNvSpPr/>
          <p:nvPr/>
        </p:nvSpPr>
        <p:spPr>
          <a:xfrm>
            <a:off x="457200" y="1463040"/>
            <a:ext cx="3566160" cy="4754880"/>
          </a:xfrm>
          <a:prstGeom prst="roundRect">
            <a:avLst>
              <a:gd name="adj" fmla="val 16667"/>
            </a:avLst>
          </a:prstGeom>
          <a:solidFill>
            <a:srgbClr val="23233D"/>
          </a:solidFill>
          <a:ln w="19050" cap="flat" cmpd="sng">
            <a:solidFill>
              <a:srgbClr val="06D6A0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0" name="Google Shape;200;p6"/>
          <p:cNvSpPr/>
          <p:nvPr/>
        </p:nvSpPr>
        <p:spPr>
          <a:xfrm>
            <a:off x="1188720" y="1325880"/>
            <a:ext cx="2103120" cy="365760"/>
          </a:xfrm>
          <a:prstGeom prst="roundRect">
            <a:avLst>
              <a:gd name="adj" fmla="val 16667"/>
            </a:avLst>
          </a:prstGeom>
          <a:solidFill>
            <a:srgbClr val="06D6A0"/>
          </a:solidFill>
          <a:ln w="19050" cap="flat" cmpd="sng">
            <a:solidFill>
              <a:srgbClr val="06D6A0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 i="0" u="none" strike="noStrike" cap="none">
                <a:solidFill>
                  <a:srgbClr val="1B1B2F"/>
                </a:solidFill>
                <a:latin typeface="Calibri"/>
                <a:ea typeface="Calibri"/>
                <a:cs typeface="Calibri"/>
                <a:sym typeface="Calibri"/>
              </a:rPr>
              <a:t>Unit Tests</a:t>
            </a:r>
            <a:endParaRPr/>
          </a:p>
        </p:txBody>
      </p:sp>
      <p:sp>
        <p:nvSpPr>
          <p:cNvPr id="201" name="Google Shape;201;p6"/>
          <p:cNvSpPr txBox="1"/>
          <p:nvPr/>
        </p:nvSpPr>
        <p:spPr>
          <a:xfrm>
            <a:off x="731520" y="1920240"/>
            <a:ext cx="3017520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i="0" u="none" strike="noStrike" cap="none">
                <a:solidFill>
                  <a:srgbClr val="06D6A0"/>
                </a:solidFill>
                <a:latin typeface="Calibri"/>
                <a:ea typeface="Calibri"/>
                <a:cs typeface="Calibri"/>
                <a:sym typeface="Calibri"/>
              </a:rPr>
              <a:t>Domain Logic</a:t>
            </a:r>
            <a:br>
              <a:rPr lang="en-US" sz="2000" b="1" i="0" u="none" strike="noStrike" cap="none">
                <a:solidFill>
                  <a:srgbClr val="06D6A0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2000" b="1" i="0" u="none" strike="noStrike" cap="none">
                <a:solidFill>
                  <a:srgbClr val="06D6A0"/>
                </a:solidFill>
                <a:latin typeface="Calibri"/>
                <a:ea typeface="Calibri"/>
                <a:cs typeface="Calibri"/>
                <a:sym typeface="Calibri"/>
              </a:rPr>
              <a:t>in Isolation</a:t>
            </a:r>
            <a:endParaRPr/>
          </a:p>
        </p:txBody>
      </p:sp>
      <p:sp>
        <p:nvSpPr>
          <p:cNvPr id="202" name="Google Shape;202;p6"/>
          <p:cNvSpPr txBox="1"/>
          <p:nvPr/>
        </p:nvSpPr>
        <p:spPr>
          <a:xfrm>
            <a:off x="731520" y="2651760"/>
            <a:ext cx="3017520" cy="320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0" i="0" u="none" strike="noStrike" cap="none">
                <a:solidFill>
                  <a:srgbClr val="B0B0C8"/>
                </a:solidFill>
                <a:latin typeface="Calibri"/>
                <a:ea typeface="Calibri"/>
                <a:cs typeface="Calibri"/>
                <a:sym typeface="Calibri"/>
              </a:rPr>
              <a:t>Pure C# objects with no infrastructure.</a:t>
            </a:r>
            <a:br>
              <a:rPr lang="en-US" sz="1300" b="0" i="0" u="none" strike="noStrike" cap="none">
                <a:solidFill>
                  <a:srgbClr val="B0B0C8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US" sz="1300" b="0" i="0" u="none" strike="noStrike" cap="none">
                <a:solidFill>
                  <a:srgbClr val="B0B0C8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300" b="0" i="0" u="none" strike="noStrike" cap="none">
                <a:solidFill>
                  <a:srgbClr val="B0B0C8"/>
                </a:solidFill>
                <a:latin typeface="Calibri"/>
                <a:ea typeface="Calibri"/>
                <a:cs typeface="Calibri"/>
                <a:sym typeface="Calibri"/>
              </a:rPr>
              <a:t>Employee, TimeEntry, Deduction entities</a:t>
            </a:r>
            <a:br>
              <a:rPr lang="en-US" sz="1300" b="0" i="0" u="none" strike="noStrike" cap="none">
                <a:solidFill>
                  <a:srgbClr val="B0B0C8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300" b="0" i="0" u="none" strike="noStrike" cap="none">
                <a:solidFill>
                  <a:srgbClr val="B0B0C8"/>
                </a:solidFill>
                <a:latin typeface="Calibri"/>
                <a:ea typeface="Calibri"/>
                <a:cs typeface="Calibri"/>
                <a:sym typeface="Calibri"/>
              </a:rPr>
              <a:t>raise domain events in memory.</a:t>
            </a:r>
            <a:br>
              <a:rPr lang="en-US" sz="1300" b="0" i="0" u="none" strike="noStrike" cap="none">
                <a:solidFill>
                  <a:srgbClr val="B0B0C8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US" sz="1300" b="0" i="0" u="none" strike="noStrike" cap="none">
                <a:solidFill>
                  <a:srgbClr val="B0B0C8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300" b="0" i="0" u="none" strike="noStrike" cap="none">
                <a:solidFill>
                  <a:srgbClr val="B0B0C8"/>
                </a:solidFill>
                <a:latin typeface="Calibri"/>
                <a:ea typeface="Calibri"/>
                <a:cs typeface="Calibri"/>
                <a:sym typeface="Calibri"/>
              </a:rPr>
              <a:t>Test business rules with plain unit tests.</a:t>
            </a:r>
            <a:br>
              <a:rPr lang="en-US" sz="1300" b="0" i="0" u="none" strike="noStrike" cap="none">
                <a:solidFill>
                  <a:srgbClr val="B0B0C8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300" b="0" i="0" u="none" strike="noStrike" cap="none">
                <a:solidFill>
                  <a:srgbClr val="B0B0C8"/>
                </a:solidFill>
                <a:latin typeface="Calibri"/>
                <a:ea typeface="Calibri"/>
                <a:cs typeface="Calibri"/>
                <a:sym typeface="Calibri"/>
              </a:rPr>
              <a:t>No databases, no Kafka, no Dapr.</a:t>
            </a:r>
            <a:endParaRPr/>
          </a:p>
        </p:txBody>
      </p:sp>
      <p:sp>
        <p:nvSpPr>
          <p:cNvPr id="203" name="Google Shape;203;p6"/>
          <p:cNvSpPr/>
          <p:nvPr/>
        </p:nvSpPr>
        <p:spPr>
          <a:xfrm>
            <a:off x="4297680" y="1463040"/>
            <a:ext cx="3566160" cy="4754880"/>
          </a:xfrm>
          <a:prstGeom prst="roundRect">
            <a:avLst>
              <a:gd name="adj" fmla="val 16667"/>
            </a:avLst>
          </a:prstGeom>
          <a:solidFill>
            <a:srgbClr val="23233D"/>
          </a:solidFill>
          <a:ln w="19050" cap="flat" cmpd="sng">
            <a:solidFill>
              <a:srgbClr val="00B4D8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4" name="Google Shape;204;p6"/>
          <p:cNvSpPr/>
          <p:nvPr/>
        </p:nvSpPr>
        <p:spPr>
          <a:xfrm>
            <a:off x="5029200" y="1325880"/>
            <a:ext cx="2103120" cy="365760"/>
          </a:xfrm>
          <a:prstGeom prst="roundRect">
            <a:avLst>
              <a:gd name="adj" fmla="val 16667"/>
            </a:avLst>
          </a:prstGeom>
          <a:solidFill>
            <a:srgbClr val="00B4D8"/>
          </a:solidFill>
          <a:ln w="19050" cap="flat" cmpd="sng">
            <a:solidFill>
              <a:srgbClr val="00B4D8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 i="0" u="none" strike="noStrike" cap="none">
                <a:solidFill>
                  <a:srgbClr val="1B1B2F"/>
                </a:solidFill>
                <a:latin typeface="Calibri"/>
                <a:ea typeface="Calibri"/>
                <a:cs typeface="Calibri"/>
                <a:sym typeface="Calibri"/>
              </a:rPr>
              <a:t>Integration Tests</a:t>
            </a:r>
            <a:endParaRPr/>
          </a:p>
        </p:txBody>
      </p:sp>
      <p:sp>
        <p:nvSpPr>
          <p:cNvPr id="205" name="Google Shape;205;p6"/>
          <p:cNvSpPr txBox="1"/>
          <p:nvPr/>
        </p:nvSpPr>
        <p:spPr>
          <a:xfrm>
            <a:off x="4572000" y="1920240"/>
            <a:ext cx="3017520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i="0" u="none" strike="noStrike" cap="none">
                <a:solidFill>
                  <a:srgbClr val="00B4D8"/>
                </a:solidFill>
                <a:latin typeface="Calibri"/>
                <a:ea typeface="Calibri"/>
                <a:cs typeface="Calibri"/>
                <a:sym typeface="Calibri"/>
              </a:rPr>
              <a:t>Services</a:t>
            </a:r>
            <a:br>
              <a:rPr lang="en-US" sz="2000" b="1" i="0" u="none" strike="noStrike" cap="none">
                <a:solidFill>
                  <a:srgbClr val="00B4D8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2000" b="1" i="0" u="none" strike="noStrike" cap="none">
                <a:solidFill>
                  <a:srgbClr val="00B4D8"/>
                </a:solidFill>
                <a:latin typeface="Calibri"/>
                <a:ea typeface="Calibri"/>
                <a:cs typeface="Calibri"/>
                <a:sym typeface="Calibri"/>
              </a:rPr>
              <a:t>in Isolation</a:t>
            </a:r>
            <a:endParaRPr/>
          </a:p>
        </p:txBody>
      </p:sp>
      <p:sp>
        <p:nvSpPr>
          <p:cNvPr id="206" name="Google Shape;206;p6"/>
          <p:cNvSpPr txBox="1"/>
          <p:nvPr/>
        </p:nvSpPr>
        <p:spPr>
          <a:xfrm>
            <a:off x="4572000" y="2651760"/>
            <a:ext cx="3017520" cy="320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0" i="0" u="none" strike="noStrike" cap="none">
                <a:solidFill>
                  <a:srgbClr val="B0B0C8"/>
                </a:solidFill>
                <a:latin typeface="Calibri"/>
                <a:ea typeface="Calibri"/>
                <a:cs typeface="Calibri"/>
                <a:sym typeface="Calibri"/>
              </a:rPr>
              <a:t>Each service has its own data store</a:t>
            </a:r>
            <a:br>
              <a:rPr lang="en-US" sz="1300" b="0" i="0" u="none" strike="noStrike" cap="none">
                <a:solidFill>
                  <a:srgbClr val="B0B0C8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300" b="0" i="0" u="none" strike="noStrike" cap="none">
                <a:solidFill>
                  <a:srgbClr val="B0B0C8"/>
                </a:solidFill>
                <a:latin typeface="Calibri"/>
                <a:ea typeface="Calibri"/>
                <a:cs typeface="Calibri"/>
                <a:sym typeface="Calibri"/>
              </a:rPr>
              <a:t>and communicates only through events.</a:t>
            </a:r>
            <a:br>
              <a:rPr lang="en-US" sz="1300" b="0" i="0" u="none" strike="noStrike" cap="none">
                <a:solidFill>
                  <a:srgbClr val="B0B0C8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US" sz="1300" b="0" i="0" u="none" strike="noStrike" cap="none">
                <a:solidFill>
                  <a:srgbClr val="B0B0C8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300" b="0" i="0" u="none" strike="noStrike" cap="none">
                <a:solidFill>
                  <a:srgbClr val="B0B0C8"/>
                </a:solidFill>
                <a:latin typeface="Calibri"/>
                <a:ea typeface="Calibri"/>
                <a:cs typeface="Calibri"/>
                <a:sym typeface="Calibri"/>
              </a:rPr>
              <a:t>Test a service by feeding it events</a:t>
            </a:r>
            <a:br>
              <a:rPr lang="en-US" sz="1300" b="0" i="0" u="none" strike="noStrike" cap="none">
                <a:solidFill>
                  <a:srgbClr val="B0B0C8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300" b="0" i="0" u="none" strike="noStrike" cap="none">
                <a:solidFill>
                  <a:srgbClr val="B0B0C8"/>
                </a:solidFill>
                <a:latin typeface="Calibri"/>
                <a:ea typeface="Calibri"/>
                <a:cs typeface="Calibri"/>
                <a:sym typeface="Calibri"/>
              </a:rPr>
              <a:t>and asserting on its output events.</a:t>
            </a:r>
            <a:br>
              <a:rPr lang="en-US" sz="1300" b="0" i="0" u="none" strike="noStrike" cap="none">
                <a:solidFill>
                  <a:srgbClr val="B0B0C8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US" sz="1300" b="0" i="0" u="none" strike="noStrike" cap="none">
                <a:solidFill>
                  <a:srgbClr val="B0B0C8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300" b="0" i="0" u="none" strike="noStrike" cap="none">
                <a:solidFill>
                  <a:srgbClr val="B0B0C8"/>
                </a:solidFill>
                <a:latin typeface="Calibri"/>
                <a:ea typeface="Calibri"/>
                <a:cs typeface="Calibri"/>
                <a:sym typeface="Calibri"/>
              </a:rPr>
              <a:t>No need to stand up the full stack.</a:t>
            </a:r>
            <a:endParaRPr/>
          </a:p>
        </p:txBody>
      </p:sp>
      <p:sp>
        <p:nvSpPr>
          <p:cNvPr id="207" name="Google Shape;207;p6"/>
          <p:cNvSpPr/>
          <p:nvPr/>
        </p:nvSpPr>
        <p:spPr>
          <a:xfrm>
            <a:off x="8138160" y="1463040"/>
            <a:ext cx="3566160" cy="4754880"/>
          </a:xfrm>
          <a:prstGeom prst="roundRect">
            <a:avLst>
              <a:gd name="adj" fmla="val 16667"/>
            </a:avLst>
          </a:prstGeom>
          <a:solidFill>
            <a:srgbClr val="23233D"/>
          </a:solidFill>
          <a:ln w="19050" cap="flat" cmpd="sng">
            <a:solidFill>
              <a:srgbClr val="FF9F1C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8" name="Google Shape;208;p6"/>
          <p:cNvSpPr/>
          <p:nvPr/>
        </p:nvSpPr>
        <p:spPr>
          <a:xfrm>
            <a:off x="8869680" y="1325880"/>
            <a:ext cx="2103120" cy="365760"/>
          </a:xfrm>
          <a:prstGeom prst="roundRect">
            <a:avLst>
              <a:gd name="adj" fmla="val 16667"/>
            </a:avLst>
          </a:prstGeom>
          <a:solidFill>
            <a:srgbClr val="FF9F1C"/>
          </a:solidFill>
          <a:ln w="19050" cap="flat" cmpd="sng">
            <a:solidFill>
              <a:srgbClr val="FF9F1C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 i="0" u="none" strike="noStrike" cap="none">
                <a:solidFill>
                  <a:srgbClr val="1B1B2F"/>
                </a:solidFill>
                <a:latin typeface="Calibri"/>
                <a:ea typeface="Calibri"/>
                <a:cs typeface="Calibri"/>
                <a:sym typeface="Calibri"/>
              </a:rPr>
              <a:t>Pipeline Tests</a:t>
            </a:r>
            <a:endParaRPr/>
          </a:p>
        </p:txBody>
      </p:sp>
      <p:sp>
        <p:nvSpPr>
          <p:cNvPr id="209" name="Google Shape;209;p6"/>
          <p:cNvSpPr txBox="1"/>
          <p:nvPr/>
        </p:nvSpPr>
        <p:spPr>
          <a:xfrm>
            <a:off x="8412480" y="1920240"/>
            <a:ext cx="3017520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i="0" u="none" strike="noStrike" cap="none">
                <a:solidFill>
                  <a:srgbClr val="FF9F1C"/>
                </a:solidFill>
                <a:latin typeface="Calibri"/>
                <a:ea typeface="Calibri"/>
                <a:cs typeface="Calibri"/>
                <a:sym typeface="Calibri"/>
              </a:rPr>
              <a:t>Stream Processing</a:t>
            </a:r>
            <a:br>
              <a:rPr lang="en-US" sz="2000" b="1" i="0" u="none" strike="noStrike" cap="none">
                <a:solidFill>
                  <a:srgbClr val="FF9F1C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2000" b="1" i="0" u="none" strike="noStrike" cap="none">
                <a:solidFill>
                  <a:srgbClr val="FF9F1C"/>
                </a:solidFill>
                <a:latin typeface="Calibri"/>
                <a:ea typeface="Calibri"/>
                <a:cs typeface="Calibri"/>
                <a:sym typeface="Calibri"/>
              </a:rPr>
              <a:t>in Isolation</a:t>
            </a:r>
            <a:endParaRPr/>
          </a:p>
        </p:txBody>
      </p:sp>
      <p:sp>
        <p:nvSpPr>
          <p:cNvPr id="210" name="Google Shape;210;p6"/>
          <p:cNvSpPr txBox="1"/>
          <p:nvPr/>
        </p:nvSpPr>
        <p:spPr>
          <a:xfrm>
            <a:off x="8412480" y="2651760"/>
            <a:ext cx="3017520" cy="320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0" i="0" u="none" strike="noStrike" cap="none">
                <a:solidFill>
                  <a:srgbClr val="B0B0C8"/>
                </a:solidFill>
                <a:latin typeface="Calibri"/>
                <a:ea typeface="Calibri"/>
                <a:cs typeface="Calibri"/>
                <a:sym typeface="Calibri"/>
              </a:rPr>
              <a:t>ksqlDB queries are pure SQL transforms</a:t>
            </a:r>
            <a:br>
              <a:rPr lang="en-US" sz="1300" b="0" i="0" u="none" strike="noStrike" cap="none">
                <a:solidFill>
                  <a:srgbClr val="B0B0C8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300" b="0" i="0" u="none" strike="noStrike" cap="none">
                <a:solidFill>
                  <a:srgbClr val="B0B0C8"/>
                </a:solidFill>
                <a:latin typeface="Calibri"/>
                <a:ea typeface="Calibri"/>
                <a:cs typeface="Calibri"/>
                <a:sym typeface="Calibri"/>
              </a:rPr>
              <a:t>on Kafka topics.</a:t>
            </a:r>
            <a:br>
              <a:rPr lang="en-US" sz="1300" b="0" i="0" u="none" strike="noStrike" cap="none">
                <a:solidFill>
                  <a:srgbClr val="B0B0C8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US" sz="1300" b="0" i="0" u="none" strike="noStrike" cap="none">
                <a:solidFill>
                  <a:srgbClr val="B0B0C8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300" b="0" i="0" u="none" strike="noStrike" cap="none">
                <a:solidFill>
                  <a:srgbClr val="B0B0C8"/>
                </a:solidFill>
                <a:latin typeface="Calibri"/>
                <a:ea typeface="Calibri"/>
                <a:cs typeface="Calibri"/>
                <a:sym typeface="Calibri"/>
              </a:rPr>
              <a:t>Test by publishing known events to a</a:t>
            </a:r>
            <a:br>
              <a:rPr lang="en-US" sz="1300" b="0" i="0" u="none" strike="noStrike" cap="none">
                <a:solidFill>
                  <a:srgbClr val="B0B0C8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300" b="0" i="0" u="none" strike="noStrike" cap="none">
                <a:solidFill>
                  <a:srgbClr val="B0B0C8"/>
                </a:solidFill>
                <a:latin typeface="Calibri"/>
                <a:ea typeface="Calibri"/>
                <a:cs typeface="Calibri"/>
                <a:sym typeface="Calibri"/>
              </a:rPr>
              <a:t>topic and querying the output table.</a:t>
            </a:r>
            <a:br>
              <a:rPr lang="en-US" sz="1300" b="0" i="0" u="none" strike="noStrike" cap="none">
                <a:solidFill>
                  <a:srgbClr val="B0B0C8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US" sz="1300" b="0" i="0" u="none" strike="noStrike" cap="none">
                <a:solidFill>
                  <a:srgbClr val="B0B0C8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300" b="0" i="0" u="none" strike="noStrike" cap="none">
                <a:solidFill>
                  <a:srgbClr val="B0B0C8"/>
                </a:solidFill>
                <a:latin typeface="Calibri"/>
                <a:ea typeface="Calibri"/>
                <a:cs typeface="Calibri"/>
                <a:sym typeface="Calibri"/>
              </a:rPr>
              <a:t>Kafka Streams topology testable</a:t>
            </a:r>
            <a:br>
              <a:rPr lang="en-US" sz="1300" b="0" i="0" u="none" strike="noStrike" cap="none">
                <a:solidFill>
                  <a:srgbClr val="B0B0C8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300" b="0" i="0" u="none" strike="noStrike" cap="none">
                <a:solidFill>
                  <a:srgbClr val="B0B0C8"/>
                </a:solidFill>
                <a:latin typeface="Calibri"/>
                <a:ea typeface="Calibri"/>
                <a:cs typeface="Calibri"/>
                <a:sym typeface="Calibri"/>
              </a:rPr>
              <a:t>with TopologyTestDriver (in-memory).</a:t>
            </a:r>
            <a:endParaRPr/>
          </a:p>
        </p:txBody>
      </p:sp>
      <p:sp>
        <p:nvSpPr>
          <p:cNvPr id="211" name="Google Shape;211;p6"/>
          <p:cNvSpPr txBox="1"/>
          <p:nvPr/>
        </p:nvSpPr>
        <p:spPr>
          <a:xfrm>
            <a:off x="731520" y="6309360"/>
            <a:ext cx="105156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FFD600"/>
                </a:solidFill>
                <a:latin typeface="Calibri"/>
                <a:ea typeface="Calibri"/>
                <a:cs typeface="Calibri"/>
                <a:sym typeface="Calibri"/>
              </a:rPr>
              <a:t>Key insight: event-driven boundaries ARE test boundaries. The same interfaces that decouple teams also decouple tests.</a:t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1B2F"/>
        </a:solidFill>
        <a:effectLst/>
      </p:bgPr>
    </p:bg>
    <p:spTree>
      <p:nvGrpSpPr>
        <p:cNvPr id="1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7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FFD600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7" name="Google Shape;217;p7"/>
          <p:cNvSpPr txBox="1"/>
          <p:nvPr/>
        </p:nvSpPr>
        <p:spPr>
          <a:xfrm>
            <a:off x="914400" y="1371600"/>
            <a:ext cx="10058400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000" b="1" i="0" u="none" strike="noStrike" cap="none">
                <a:solidFill>
                  <a:srgbClr val="FFD600"/>
                </a:solidFill>
                <a:latin typeface="Calibri"/>
                <a:ea typeface="Calibri"/>
                <a:cs typeface="Calibri"/>
                <a:sym typeface="Calibri"/>
              </a:rPr>
              <a:t>This Isn't About Best Practices</a:t>
            </a:r>
            <a:endParaRPr/>
          </a:p>
        </p:txBody>
      </p:sp>
      <p:sp>
        <p:nvSpPr>
          <p:cNvPr id="218" name="Google Shape;218;p7"/>
          <p:cNvSpPr txBox="1"/>
          <p:nvPr/>
        </p:nvSpPr>
        <p:spPr>
          <a:xfrm>
            <a:off x="914400" y="2560320"/>
            <a:ext cx="10058400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It's About Organizational Velocity</a:t>
            </a:r>
            <a:endParaRPr/>
          </a:p>
        </p:txBody>
      </p:sp>
      <p:sp>
        <p:nvSpPr>
          <p:cNvPr id="219" name="Google Shape;219;p7"/>
          <p:cNvSpPr/>
          <p:nvPr/>
        </p:nvSpPr>
        <p:spPr>
          <a:xfrm>
            <a:off x="914400" y="3474720"/>
            <a:ext cx="2743200" cy="36576"/>
          </a:xfrm>
          <a:prstGeom prst="rect">
            <a:avLst/>
          </a:prstGeom>
          <a:solidFill>
            <a:srgbClr val="FFD600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0" name="Google Shape;220;p7"/>
          <p:cNvSpPr txBox="1"/>
          <p:nvPr/>
        </p:nvSpPr>
        <p:spPr>
          <a:xfrm>
            <a:off x="1371600" y="3931920"/>
            <a:ext cx="9144000" cy="4114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>
                <a:solidFill>
                  <a:srgbClr val="B0B0C8"/>
                </a:solidFill>
                <a:latin typeface="Calibri"/>
                <a:ea typeface="Calibri"/>
                <a:cs typeface="Calibri"/>
                <a:sym typeface="Calibri"/>
              </a:rPr>
              <a:t>Teams deploy independently — no coordination, no waiting.</a:t>
            </a:r>
            <a:endParaRPr/>
          </a:p>
        </p:txBody>
      </p:sp>
      <p:sp>
        <p:nvSpPr>
          <p:cNvPr id="221" name="Google Shape;221;p7"/>
          <p:cNvSpPr/>
          <p:nvPr/>
        </p:nvSpPr>
        <p:spPr>
          <a:xfrm>
            <a:off x="1005840" y="4005072"/>
            <a:ext cx="109728" cy="109728"/>
          </a:xfrm>
          <a:prstGeom prst="ellipse">
            <a:avLst/>
          </a:prstGeom>
          <a:solidFill>
            <a:srgbClr val="FFD600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2" name="Google Shape;222;p7"/>
          <p:cNvSpPr txBox="1"/>
          <p:nvPr/>
        </p:nvSpPr>
        <p:spPr>
          <a:xfrm>
            <a:off x="1371600" y="4389120"/>
            <a:ext cx="9144000" cy="4114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>
                <a:solidFill>
                  <a:srgbClr val="B0B0C8"/>
                </a:solidFill>
                <a:latin typeface="Calibri"/>
                <a:ea typeface="Calibri"/>
                <a:cs typeface="Calibri"/>
                <a:sym typeface="Calibri"/>
              </a:rPr>
              <a:t>A failure in one service is invisible to other services.</a:t>
            </a:r>
            <a:endParaRPr/>
          </a:p>
        </p:txBody>
      </p:sp>
      <p:sp>
        <p:nvSpPr>
          <p:cNvPr id="223" name="Google Shape;223;p7"/>
          <p:cNvSpPr/>
          <p:nvPr/>
        </p:nvSpPr>
        <p:spPr>
          <a:xfrm>
            <a:off x="1005840" y="4462272"/>
            <a:ext cx="109728" cy="109728"/>
          </a:xfrm>
          <a:prstGeom prst="ellipse">
            <a:avLst/>
          </a:prstGeom>
          <a:solidFill>
            <a:srgbClr val="FFD600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4" name="Google Shape;224;p7"/>
          <p:cNvSpPr txBox="1"/>
          <p:nvPr/>
        </p:nvSpPr>
        <p:spPr>
          <a:xfrm>
            <a:off x="1371600" y="4846320"/>
            <a:ext cx="9144000" cy="4114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>
                <a:solidFill>
                  <a:srgbClr val="B0B0C8"/>
                </a:solidFill>
                <a:latin typeface="Calibri"/>
                <a:ea typeface="Calibri"/>
                <a:cs typeface="Calibri"/>
                <a:sym typeface="Calibri"/>
              </a:rPr>
              <a:t>New services consume events without changing existing code.</a:t>
            </a:r>
            <a:endParaRPr/>
          </a:p>
        </p:txBody>
      </p:sp>
      <p:sp>
        <p:nvSpPr>
          <p:cNvPr id="225" name="Google Shape;225;p7"/>
          <p:cNvSpPr/>
          <p:nvPr/>
        </p:nvSpPr>
        <p:spPr>
          <a:xfrm>
            <a:off x="1005840" y="4919472"/>
            <a:ext cx="109728" cy="109728"/>
          </a:xfrm>
          <a:prstGeom prst="ellipse">
            <a:avLst/>
          </a:prstGeom>
          <a:solidFill>
            <a:srgbClr val="FFD600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6" name="Google Shape;226;p7"/>
          <p:cNvSpPr txBox="1"/>
          <p:nvPr/>
        </p:nvSpPr>
        <p:spPr>
          <a:xfrm>
            <a:off x="1371600" y="5303520"/>
            <a:ext cx="9144000" cy="4114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>
                <a:solidFill>
                  <a:srgbClr val="B0B0C8"/>
                </a:solidFill>
                <a:latin typeface="Calibri"/>
                <a:ea typeface="Calibri"/>
                <a:cs typeface="Calibri"/>
                <a:sym typeface="Calibri"/>
              </a:rPr>
              <a:t>Infrastructure decisions can change without rewriting applications.</a:t>
            </a:r>
            <a:endParaRPr/>
          </a:p>
        </p:txBody>
      </p:sp>
      <p:sp>
        <p:nvSpPr>
          <p:cNvPr id="227" name="Google Shape;227;p7"/>
          <p:cNvSpPr/>
          <p:nvPr/>
        </p:nvSpPr>
        <p:spPr>
          <a:xfrm>
            <a:off x="1005840" y="5376672"/>
            <a:ext cx="109728" cy="109728"/>
          </a:xfrm>
          <a:prstGeom prst="ellipse">
            <a:avLst/>
          </a:prstGeom>
          <a:solidFill>
            <a:srgbClr val="FFD600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8" name="Google Shape;228;p7"/>
          <p:cNvSpPr txBox="1"/>
          <p:nvPr/>
        </p:nvSpPr>
        <p:spPr>
          <a:xfrm>
            <a:off x="1371600" y="5760720"/>
            <a:ext cx="9144000" cy="4114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>
                <a:solidFill>
                  <a:srgbClr val="B0B0C8"/>
                </a:solidFill>
                <a:latin typeface="Calibri"/>
                <a:ea typeface="Calibri"/>
                <a:cs typeface="Calibri"/>
                <a:sym typeface="Calibri"/>
              </a:rPr>
              <a:t>Every component is testable in isolation at the boundary it already has.</a:t>
            </a:r>
            <a:endParaRPr/>
          </a:p>
        </p:txBody>
      </p:sp>
      <p:sp>
        <p:nvSpPr>
          <p:cNvPr id="229" name="Google Shape;229;p7"/>
          <p:cNvSpPr/>
          <p:nvPr/>
        </p:nvSpPr>
        <p:spPr>
          <a:xfrm>
            <a:off x="1005840" y="5833872"/>
            <a:ext cx="109728" cy="109728"/>
          </a:xfrm>
          <a:prstGeom prst="ellipse">
            <a:avLst/>
          </a:prstGeom>
          <a:solidFill>
            <a:srgbClr val="FFD600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1B2F"/>
        </a:solidFill>
        <a:effectLst/>
      </p:bgPr>
    </p:bg>
    <p:spTree>
      <p:nvGrpSpPr>
        <p:cNvPr id="1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g3cccf256368_0_6"/>
          <p:cNvSpPr txBox="1"/>
          <p:nvPr/>
        </p:nvSpPr>
        <p:spPr>
          <a:xfrm>
            <a:off x="981075" y="190500"/>
            <a:ext cx="9334500" cy="623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43180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Calibri"/>
              <a:buChar char="●"/>
            </a:pPr>
            <a:r>
              <a:rPr lang="en-US" sz="2800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Changes in payroll pro propagate to client listener</a:t>
            </a:r>
            <a:endParaRPr sz="2800" dirty="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43180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Calibri"/>
              <a:buChar char="●"/>
            </a:pPr>
            <a:r>
              <a:rPr lang="en-US" sz="2800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Changes to the parts that make up the balance recalculate the balance</a:t>
            </a:r>
            <a:endParaRPr sz="2800" dirty="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43180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Calibri"/>
              <a:buChar char="●"/>
            </a:pPr>
            <a:r>
              <a:rPr lang="en-US" sz="2800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Delete all data in the consumer. Restore employee, then child data.</a:t>
            </a:r>
            <a:endParaRPr sz="2800" dirty="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43180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Calibri"/>
              <a:buChar char="●"/>
            </a:pPr>
            <a:r>
              <a:rPr lang="en-US" sz="2800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Net pay uses a microservice for more complex aggregations</a:t>
            </a:r>
            <a:endParaRPr sz="2800" dirty="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43180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Calibri"/>
              <a:buChar char="●"/>
            </a:pPr>
            <a:r>
              <a:rPr lang="en-US" sz="2800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Elastic search populated via Kafka connectors to move data without writing code. Stream service uses a materialized view to put it in the best compatible format.</a:t>
            </a:r>
          </a:p>
          <a:p>
            <a:pPr marL="457200" lvl="0" indent="-43180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Calibri"/>
              <a:buChar char="●"/>
            </a:pPr>
            <a:r>
              <a:rPr lang="en-US" sz="2800" dirty="0" err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Dapr</a:t>
            </a:r>
            <a:r>
              <a:rPr lang="en-US" sz="2800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 configuration file.</a:t>
            </a:r>
          </a:p>
          <a:p>
            <a:pPr marL="457200" lvl="0" indent="-43180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Calibri"/>
              <a:buChar char="●"/>
            </a:pPr>
            <a:r>
              <a:rPr lang="en-US" sz="2800" dirty="0" err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Ksqld</a:t>
            </a:r>
            <a:r>
              <a:rPr lang="en-US" sz="2800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US" sz="2800" dirty="0" err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sql</a:t>
            </a:r>
            <a:r>
              <a:rPr lang="en-US" sz="2800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 file.</a:t>
            </a:r>
            <a:endParaRPr sz="2800" dirty="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925</Words>
  <Application>Microsoft Office PowerPoint</Application>
  <PresentationFormat>Widescreen</PresentationFormat>
  <Paragraphs>86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Corey Fournier</cp:lastModifiedBy>
  <cp:revision>1</cp:revision>
  <dcterms:created xsi:type="dcterms:W3CDTF">2013-01-27T09:14:16Z</dcterms:created>
  <dcterms:modified xsi:type="dcterms:W3CDTF">2026-03-05T02:12:53Z</dcterms:modified>
</cp:coreProperties>
</file>